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31" autoAdjust="0"/>
  </p:normalViewPr>
  <p:slideViewPr>
    <p:cSldViewPr snapToGrid="0">
      <p:cViewPr varScale="1">
        <p:scale>
          <a:sx n="99" d="100"/>
          <a:sy n="99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B9A7DF99-9C06-43C3-B0A0-6E27D295C2EB}"/>
              </a:ext>
            </a:extLst>
          </p:cNvPr>
          <p:cNvSpPr>
            <a:spLocks noGrp="1"/>
          </p:cNvSpPr>
          <p:nvPr/>
        </p:nvSpPr>
        <p:spPr>
          <a:xfrm>
            <a:off x="7677150" y="1200150"/>
            <a:ext cx="3105150" cy="3105150"/>
          </a:xfrm>
          <a:prstGeom prst="roundRect">
            <a:avLst>
              <a:gd name="adj" fmla="val 3681"/>
            </a:avLst>
          </a:prstGeom>
          <a:solidFill>
            <a:srgbClr val="17213A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71B6629-1120-417D-98E7-1CA72086C60B}"/>
              </a:ext>
            </a:extLst>
          </p:cNvPr>
          <p:cNvSpPr>
            <a:spLocks noGrp="1"/>
          </p:cNvSpPr>
          <p:nvPr/>
        </p:nvSpPr>
        <p:spPr>
          <a:xfrm>
            <a:off x="7962900" y="1485900"/>
            <a:ext cx="3105150" cy="3105150"/>
          </a:xfrm>
          <a:prstGeom prst="roundRect">
            <a:avLst>
              <a:gd name="adj" fmla="val 3681"/>
            </a:avLst>
          </a:prstGeom>
          <a:solidFill>
            <a:srgbClr val="232F50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8609846-E7AB-40A1-BD8F-D5AE16F2DBC0}"/>
              </a:ext>
            </a:extLst>
          </p:cNvPr>
          <p:cNvSpPr>
            <a:spLocks noGrp="1"/>
          </p:cNvSpPr>
          <p:nvPr/>
        </p:nvSpPr>
        <p:spPr>
          <a:xfrm>
            <a:off x="8248650" y="1771650"/>
            <a:ext cx="3105150" cy="3105150"/>
          </a:xfrm>
          <a:prstGeom prst="roundRect">
            <a:avLst>
              <a:gd name="adj" fmla="val 3681"/>
            </a:avLst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A353027-9EAC-483C-A743-7D05A77D9EFA}"/>
              </a:ext>
            </a:extLst>
          </p:cNvPr>
          <p:cNvSpPr>
            <a:spLocks noGrp="1"/>
          </p:cNvSpPr>
          <p:nvPr/>
        </p:nvSpPr>
        <p:spPr>
          <a:xfrm>
            <a:off x="8858250" y="2590800"/>
            <a:ext cx="1428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800" b="1">
                <a:solidFill>
                  <a:srgbClr val="FFFFFF"/>
                </a:solidFill>
              </a:defRPr>
            </a:pPr>
            <a:endParaRPr sz="4800" b="1" dirty="0">
              <a:solidFill>
                <a:srgbClr val="FFFFFF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F335BC5-DF63-4631-AA18-D053CCCAA4E0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 spc="2">
                <a:solidFill>
                  <a:srgbClr val="73D5FF"/>
                </a:solidFill>
              </a:defRPr>
            </a:pPr>
            <a:r>
              <a:rPr sz="1050" b="1" spc="2">
                <a:solidFill>
                  <a:srgbClr val="73D5FF"/>
                </a:solidFill>
              </a:rPr>
              <a:t>PRACTICEFLOW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164C4A9-4D17-48A4-8863-ABD2F6ADB61B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6429375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Цифровая платформа</a:t>
            </a:r>
          </a:p>
          <a:p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для управления</a:t>
            </a:r>
          </a:p>
          <a:p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студенческой практикой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09A5888-9482-4BFB-B255-3990A285158B}"/>
              </a:ext>
            </a:extLst>
          </p:cNvPr>
          <p:cNvSpPr>
            <a:spLocks noGrp="1"/>
          </p:cNvSpPr>
          <p:nvPr/>
        </p:nvSpPr>
        <p:spPr>
          <a:xfrm>
            <a:off x="704850" y="4038600"/>
            <a:ext cx="561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C6D0E9"/>
                </a:solidFill>
              </a:defRPr>
            </a:pPr>
            <a:r>
              <a:rPr lang="ru-RU" sz="1650" dirty="0">
                <a:solidFill>
                  <a:srgbClr val="C6D0E9"/>
                </a:solidFill>
              </a:rPr>
              <a:t>Егеубай Бердыбек</a:t>
            </a:r>
          </a:p>
          <a:p>
            <a:pPr>
              <a:buNone/>
              <a:defRPr sz="1650">
                <a:solidFill>
                  <a:srgbClr val="C6D0E9"/>
                </a:solidFill>
              </a:defRPr>
            </a:pPr>
            <a:r>
              <a:rPr lang="en-US" sz="1650" dirty="0">
                <a:solidFill>
                  <a:srgbClr val="C6D0E9"/>
                </a:solidFill>
              </a:rPr>
              <a:t>AITU COLLEGE — 3 COURSE</a:t>
            </a:r>
            <a:endParaRPr sz="1650" dirty="0">
              <a:solidFill>
                <a:srgbClr val="C6D0E9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3A716BA-344B-4E63-9F6C-3EE3056E3FE9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2343150" cy="38100"/>
          </a:xfrm>
          <a:prstGeom prst="rect">
            <a:avLst/>
          </a:prstGeom>
          <a:solidFill>
            <a:srgbClr val="73D5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5761352-A8B3-4D3E-8935-DA1B6A7BE79E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AEB9D6"/>
                </a:solidFill>
              </a:defRPr>
            </a:pPr>
            <a:r>
              <a:rPr sz="1275">
                <a:solidFill>
                  <a:srgbClr val="AEB9D6"/>
                </a:solidFill>
              </a:rPr>
              <a:t>август 2026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5D42AD-6952-4413-8A5C-0B007561319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AEB9D6"/>
                </a:solidFill>
              </a:defRPr>
            </a:pPr>
            <a:r>
              <a:rPr sz="975" dirty="0" err="1">
                <a:solidFill>
                  <a:srgbClr val="AEB9D6"/>
                </a:solidFill>
              </a:rPr>
              <a:t>PracticeFlow</a:t>
            </a:r>
            <a:r>
              <a:rPr sz="975" dirty="0">
                <a:solidFill>
                  <a:srgbClr val="AEB9D6"/>
                </a:solidFill>
              </a:rPr>
              <a:t>  •</a:t>
            </a:r>
          </a:p>
        </p:txBody>
      </p:sp>
    </p:spTree>
    <p:extLst>
      <p:ext uri="{BB962C8B-B14F-4D97-AF65-F5344CB8AC3E}">
        <p14:creationId xmlns:p14="http://schemas.microsoft.com/office/powerpoint/2010/main" val="1040304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3FE8A2D-C640-4652-8568-AB794F7EF7B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ПРОБЛЕМА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6949C4B-8C0E-4E28-9E66-04DDA918DB8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71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18233A"/>
                </a:solidFill>
              </a:defRPr>
            </a:pPr>
            <a:r>
              <a:rPr sz="3150" b="1">
                <a:solidFill>
                  <a:srgbClr val="18233A"/>
                </a:solidFill>
              </a:rPr>
              <a:t>Проверка отчётов всё ещё живёт в файлах и пересылках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38813B1-6FE2-4DD0-9C3B-9859B40331BD}"/>
              </a:ext>
            </a:extLst>
          </p:cNvPr>
          <p:cNvSpPr>
            <a:spLocks noGrp="1"/>
          </p:cNvSpPr>
          <p:nvPr/>
        </p:nvSpPr>
        <p:spPr>
          <a:xfrm>
            <a:off x="768096" y="1352550"/>
            <a:ext cx="723900" cy="38100"/>
          </a:xfrm>
          <a:prstGeom prst="rect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314EE6C-8CA1-459B-8B88-C060E7558DEB}"/>
              </a:ext>
            </a:extLst>
          </p:cNvPr>
          <p:cNvSpPr>
            <a:spLocks noGrp="1"/>
          </p:cNvSpPr>
          <p:nvPr/>
        </p:nvSpPr>
        <p:spPr>
          <a:xfrm>
            <a:off x="10858500" y="51435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619EF29-A647-49C7-A728-EFAF6E076FA1}"/>
              </a:ext>
            </a:extLst>
          </p:cNvPr>
          <p:cNvSpPr>
            <a:spLocks noGrp="1"/>
          </p:cNvSpPr>
          <p:nvPr/>
        </p:nvSpPr>
        <p:spPr>
          <a:xfrm>
            <a:off x="1371600" y="3514725"/>
            <a:ext cx="7581900" cy="38100"/>
          </a:xfrm>
          <a:prstGeom prst="rect">
            <a:avLst/>
          </a:prstGeom>
          <a:solidFill>
            <a:srgbClr val="DCE3F0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17F1C1AA-0D94-49EE-8899-8AFFED3D5FE6}"/>
              </a:ext>
            </a:extLst>
          </p:cNvPr>
          <p:cNvSpPr>
            <a:spLocks noGrp="1"/>
          </p:cNvSpPr>
          <p:nvPr/>
        </p:nvSpPr>
        <p:spPr>
          <a:xfrm>
            <a:off x="1200150" y="3114675"/>
            <a:ext cx="819150" cy="819150"/>
          </a:xfrm>
          <a:prstGeom prst="ellipse">
            <a:avLst/>
          </a:prstGeom>
          <a:solidFill>
            <a:srgbClr val="FF8C8C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4A9591-C665-48DC-9934-B07220DCBC0F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1485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Word</a:t>
            </a:r>
          </a:p>
          <a:p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файлы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48C3902-BCA7-4C1A-BE5D-9C2D95C6C066}"/>
              </a:ext>
            </a:extLst>
          </p:cNvPr>
          <p:cNvSpPr>
            <a:spLocks noGrp="1"/>
          </p:cNvSpPr>
          <p:nvPr/>
        </p:nvSpPr>
        <p:spPr>
          <a:xfrm>
            <a:off x="3467100" y="3114675"/>
            <a:ext cx="819150" cy="819150"/>
          </a:xfrm>
          <a:prstGeom prst="ellipse">
            <a:avLst/>
          </a:prstGeom>
          <a:solidFill>
            <a:srgbClr val="FFCC74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AF99B16-CEF9-42CF-8FD6-A733DABA39A3}"/>
              </a:ext>
            </a:extLst>
          </p:cNvPr>
          <p:cNvSpPr>
            <a:spLocks noGrp="1"/>
          </p:cNvSpPr>
          <p:nvPr/>
        </p:nvSpPr>
        <p:spPr>
          <a:xfrm>
            <a:off x="3143250" y="4124325"/>
            <a:ext cx="1485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Письма и</a:t>
            </a:r>
          </a:p>
          <a:p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версии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F0007A3E-A6DB-4FCD-BCB6-31257EC00B6E}"/>
              </a:ext>
            </a:extLst>
          </p:cNvPr>
          <p:cNvSpPr>
            <a:spLocks noGrp="1"/>
          </p:cNvSpPr>
          <p:nvPr/>
        </p:nvSpPr>
        <p:spPr>
          <a:xfrm>
            <a:off x="5734050" y="3114675"/>
            <a:ext cx="819150" cy="819150"/>
          </a:xfrm>
          <a:prstGeom prst="ellipse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EED0B88-744B-45F6-9363-B2FCE6F25C9D}"/>
              </a:ext>
            </a:extLst>
          </p:cNvPr>
          <p:cNvSpPr>
            <a:spLocks noGrp="1"/>
          </p:cNvSpPr>
          <p:nvPr/>
        </p:nvSpPr>
        <p:spPr>
          <a:xfrm>
            <a:off x="5410200" y="4124325"/>
            <a:ext cx="1485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Ручная</a:t>
            </a:r>
          </a:p>
          <a:p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проверка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F8B49116-3FDA-4A67-BE73-759B10E3D0AF}"/>
              </a:ext>
            </a:extLst>
          </p:cNvPr>
          <p:cNvSpPr>
            <a:spLocks noGrp="1"/>
          </p:cNvSpPr>
          <p:nvPr/>
        </p:nvSpPr>
        <p:spPr>
          <a:xfrm>
            <a:off x="8001000" y="3114675"/>
            <a:ext cx="819150" cy="819150"/>
          </a:xfrm>
          <a:prstGeom prst="ellipse">
            <a:avLst/>
          </a:prstGeom>
          <a:solidFill>
            <a:srgbClr val="67D4B0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D47EBD5-25CB-45F9-9A92-1840E939FFDE}"/>
              </a:ext>
            </a:extLst>
          </p:cNvPr>
          <p:cNvSpPr>
            <a:spLocks noGrp="1"/>
          </p:cNvSpPr>
          <p:nvPr/>
        </p:nvSpPr>
        <p:spPr>
          <a:xfrm>
            <a:off x="7677150" y="4124325"/>
            <a:ext cx="1485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Оформление</a:t>
            </a:r>
          </a:p>
          <a:p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вручную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BBE54C2-70A1-4113-99B2-24B668BCF778}"/>
              </a:ext>
            </a:extLst>
          </p:cNvPr>
          <p:cNvSpPr>
            <a:spLocks noGrp="1"/>
          </p:cNvSpPr>
          <p:nvPr/>
        </p:nvSpPr>
        <p:spPr>
          <a:xfrm>
            <a:off x="1200150" y="5124450"/>
            <a:ext cx="8972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>
                <a:solidFill>
                  <a:srgbClr val="18233A"/>
                </a:solidFill>
              </a:defRPr>
            </a:pPr>
            <a:r>
              <a:rPr sz="1950">
                <a:solidFill>
                  <a:srgbClr val="18233A"/>
                </a:solidFill>
              </a:rPr>
              <a:t>Много версий отчёта • сложно увидеть, что именно исправить • итоговый документ приходится собирать вручную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17981B3-0D81-4320-B44B-77D424E8AC7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60708D"/>
                </a:solidFill>
              </a:defRPr>
            </a:pPr>
            <a:r>
              <a:rPr sz="975" dirty="0" err="1">
                <a:solidFill>
                  <a:srgbClr val="60708D"/>
                </a:solidFill>
              </a:rPr>
              <a:t>PracticeFlow</a:t>
            </a:r>
            <a:r>
              <a:rPr sz="975" dirty="0">
                <a:solidFill>
                  <a:srgbClr val="60708D"/>
                </a:solidFill>
              </a:rPr>
              <a:t>  •</a:t>
            </a:r>
          </a:p>
        </p:txBody>
      </p:sp>
    </p:spTree>
    <p:extLst>
      <p:ext uri="{BB962C8B-B14F-4D97-AF65-F5344CB8AC3E}">
        <p14:creationId xmlns:p14="http://schemas.microsoft.com/office/powerpoint/2010/main" val="293058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2A3C298-4462-45F3-BE4F-3497A0E047B4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ИССЛЕДОВАНИЕ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2CD97D4-9FB7-4EA8-A48A-BEDCA64D3F2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71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18233A"/>
                </a:solidFill>
              </a:defRPr>
            </a:pPr>
            <a:r>
              <a:rPr sz="3150" b="1">
                <a:solidFill>
                  <a:srgbClr val="18233A"/>
                </a:solidFill>
              </a:rPr>
              <a:t>Опрос подтверждает проблему проверки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5EE5EED-7328-42BB-B620-1083FD5C48DD}"/>
              </a:ext>
            </a:extLst>
          </p:cNvPr>
          <p:cNvSpPr>
            <a:spLocks noGrp="1"/>
          </p:cNvSpPr>
          <p:nvPr/>
        </p:nvSpPr>
        <p:spPr>
          <a:xfrm>
            <a:off x="816365" y="1438275"/>
            <a:ext cx="723900" cy="38100"/>
          </a:xfrm>
          <a:prstGeom prst="rect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D952B35-C533-4D6D-938A-9F3A40BAB077}"/>
              </a:ext>
            </a:extLst>
          </p:cNvPr>
          <p:cNvSpPr>
            <a:spLocks noGrp="1"/>
          </p:cNvSpPr>
          <p:nvPr/>
        </p:nvSpPr>
        <p:spPr>
          <a:xfrm>
            <a:off x="10858500" y="51435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03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4DC6FED-7D0B-42CE-9675-2BB20D45252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60708D"/>
                </a:solidFill>
              </a:defRPr>
            </a:pPr>
            <a:r>
              <a:rPr sz="975" dirty="0" err="1">
                <a:solidFill>
                  <a:srgbClr val="60708D"/>
                </a:solidFill>
              </a:rPr>
              <a:t>PracticeFlow</a:t>
            </a:r>
            <a:r>
              <a:rPr sz="975" dirty="0">
                <a:solidFill>
                  <a:srgbClr val="60708D"/>
                </a:solidFill>
              </a:rPr>
              <a:t>  •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4548315-5059-4895-90B5-CB07ADC7C136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60708D"/>
                </a:solidFill>
              </a:defRPr>
            </a:pPr>
            <a:r>
              <a:rPr sz="1425">
                <a:solidFill>
                  <a:srgbClr val="60708D"/>
                </a:solidFill>
              </a:rPr>
              <a:t>6 преподавателей • 83,3% тратят 5–10 часов в неделю на проверку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1838BCD7-15BB-417F-A0B0-2308D773D89B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048250" cy="22479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6" name="Рисунок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6365" y="2419350"/>
            <a:ext cx="4787120" cy="2057400"/>
          </a:xfrm>
          <a:prstGeom prst="roundRect">
            <a:avLst>
              <a:gd name="adj" fmla="val 5556"/>
            </a:avLst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B738D26-7590-4B70-955F-9637AA374BF2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8233A"/>
                </a:solidFill>
              </a:defRPr>
            </a:pPr>
            <a:r>
              <a:rPr sz="1200" b="1">
                <a:solidFill>
                  <a:srgbClr val="18233A"/>
                </a:solidFill>
              </a:rPr>
              <a:t>Время на проверку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83FE9538-724F-41E2-B225-5FE1773EE381}"/>
              </a:ext>
            </a:extLst>
          </p:cNvPr>
          <p:cNvSpPr>
            <a:spLocks noGrp="1"/>
          </p:cNvSpPr>
          <p:nvPr/>
        </p:nvSpPr>
        <p:spPr>
          <a:xfrm>
            <a:off x="6076950" y="2324100"/>
            <a:ext cx="5048250" cy="22479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9" name="Рисунок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72200" y="2451308"/>
            <a:ext cx="4857750" cy="1993485"/>
          </a:xfrm>
          <a:prstGeom prst="roundRect">
            <a:avLst>
              <a:gd name="adj" fmla="val 5556"/>
            </a:avLst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E93DB855-DCF2-4E76-97D6-0D67C517F224}"/>
              </a:ext>
            </a:extLst>
          </p:cNvPr>
          <p:cNvSpPr>
            <a:spLocks noGrp="1"/>
          </p:cNvSpPr>
          <p:nvPr/>
        </p:nvSpPr>
        <p:spPr>
          <a:xfrm>
            <a:off x="6076950" y="46863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8233A"/>
                </a:solidFill>
              </a:defRPr>
            </a:pPr>
            <a:r>
              <a:rPr sz="1200" b="1">
                <a:solidFill>
                  <a:srgbClr val="18233A"/>
                </a:solidFill>
              </a:rPr>
              <a:t>Готовность к пилоту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DD77288D-B0FF-46CD-8EEE-B3EEC23A32A7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439400" cy="609600"/>
          </a:xfrm>
          <a:prstGeom prst="roundRect">
            <a:avLst>
              <a:gd name="adj" fmla="val 18750"/>
            </a:avLst>
          </a:prstGeom>
          <a:solidFill>
            <a:srgbClr val="EEF0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4DCA0ED-3A88-47D9-8C19-3D7CF2069129}"/>
              </a:ext>
            </a:extLst>
          </p:cNvPr>
          <p:cNvSpPr>
            <a:spLocks noGrp="1"/>
          </p:cNvSpPr>
          <p:nvPr/>
        </p:nvSpPr>
        <p:spPr>
          <a:xfrm>
            <a:off x="952500" y="539115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0182A"/>
                </a:solidFill>
              </a:defRPr>
            </a:pPr>
            <a:r>
              <a:rPr sz="1650" b="1">
                <a:solidFill>
                  <a:srgbClr val="10182A"/>
                </a:solidFill>
              </a:rPr>
              <a:t>Вывод: проблема измерима, а готовность к раннему пилоту — высокая.</a:t>
            </a:r>
          </a:p>
        </p:txBody>
      </p:sp>
    </p:spTree>
    <p:extLst>
      <p:ext uri="{BB962C8B-B14F-4D97-AF65-F5344CB8AC3E}">
        <p14:creationId xmlns:p14="http://schemas.microsoft.com/office/powerpoint/2010/main" val="240248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A30FC49F-1630-4BA2-BD89-DAE56FC9EFD5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 spc="2">
                <a:solidFill>
                  <a:srgbClr val="BFC8E5"/>
                </a:solidFill>
              </a:defRPr>
            </a:pPr>
            <a:r>
              <a:rPr sz="975" b="1" spc="2">
                <a:solidFill>
                  <a:srgbClr val="BFC8E5"/>
                </a:solidFill>
              </a:rPr>
              <a:t>РЕШЕНИЕ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B00A54-E9DE-4651-819B-502B9C62141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71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Один маршрут вместо цепочки файлов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269D97A-16EB-4955-AD63-8181840395BE}"/>
              </a:ext>
            </a:extLst>
          </p:cNvPr>
          <p:cNvSpPr>
            <a:spLocks noGrp="1"/>
          </p:cNvSpPr>
          <p:nvPr/>
        </p:nvSpPr>
        <p:spPr>
          <a:xfrm>
            <a:off x="800100" y="1408948"/>
            <a:ext cx="723900" cy="38100"/>
          </a:xfrm>
          <a:prstGeom prst="rect">
            <a:avLst/>
          </a:prstGeom>
          <a:solidFill>
            <a:srgbClr val="73D5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FEDACC1-0044-457D-9C21-3112815BC6D8}"/>
              </a:ext>
            </a:extLst>
          </p:cNvPr>
          <p:cNvSpPr>
            <a:spLocks noGrp="1"/>
          </p:cNvSpPr>
          <p:nvPr/>
        </p:nvSpPr>
        <p:spPr>
          <a:xfrm>
            <a:off x="10858500" y="51435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1">
                <a:solidFill>
                  <a:srgbClr val="BFC8E5"/>
                </a:solidFill>
              </a:defRPr>
            </a:pPr>
            <a:r>
              <a:rPr sz="1200" b="1">
                <a:solidFill>
                  <a:srgbClr val="BFC8E5"/>
                </a:solidFill>
              </a:rPr>
              <a:t>04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99A9F7B-F961-4E29-860C-E6A492026FF8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>
                <a:solidFill>
                  <a:srgbClr val="C7D0EA"/>
                </a:solidFill>
              </a:defRPr>
            </a:pPr>
            <a:r>
              <a:rPr sz="1725">
                <a:solidFill>
                  <a:srgbClr val="C7D0EA"/>
                </a:solidFill>
              </a:rPr>
              <a:t>Целевой процесс PracticeFlow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BD0F17-F210-467A-AC50-DBBE84E9FB7F}"/>
              </a:ext>
            </a:extLst>
          </p:cNvPr>
          <p:cNvSpPr>
            <a:spLocks noGrp="1"/>
          </p:cNvSpPr>
          <p:nvPr/>
        </p:nvSpPr>
        <p:spPr>
          <a:xfrm>
            <a:off x="1200150" y="3514725"/>
            <a:ext cx="9791700" cy="38100"/>
          </a:xfrm>
          <a:prstGeom prst="rect">
            <a:avLst/>
          </a:prstGeom>
          <a:solidFill>
            <a:srgbClr val="51607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5E9F4D5-DF63-4624-A158-AF870E1ECA8C}"/>
              </a:ext>
            </a:extLst>
          </p:cNvPr>
          <p:cNvSpPr>
            <a:spLocks noGrp="1"/>
          </p:cNvSpPr>
          <p:nvPr/>
        </p:nvSpPr>
        <p:spPr>
          <a:xfrm>
            <a:off x="876300" y="3190875"/>
            <a:ext cx="647700" cy="647700"/>
          </a:xfrm>
          <a:prstGeom prst="ellipse">
            <a:avLst/>
          </a:prstGeom>
          <a:solidFill>
            <a:srgbClr val="73D5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400759F-BEEF-433B-B708-77BD5EC76BC6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CB1C40F-04B2-485A-8E92-E71BA88F195A}"/>
              </a:ext>
            </a:extLst>
          </p:cNvPr>
          <p:cNvSpPr>
            <a:spLocks noGrp="1"/>
          </p:cNvSpPr>
          <p:nvPr/>
        </p:nvSpPr>
        <p:spPr>
          <a:xfrm>
            <a:off x="552450" y="4057650"/>
            <a:ext cx="129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Шаблон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33FD4F5A-A2A9-4055-8D40-E1E9E9A8B909}"/>
              </a:ext>
            </a:extLst>
          </p:cNvPr>
          <p:cNvSpPr>
            <a:spLocks noGrp="1"/>
          </p:cNvSpPr>
          <p:nvPr/>
        </p:nvSpPr>
        <p:spPr>
          <a:xfrm>
            <a:off x="2238375" y="3190875"/>
            <a:ext cx="647700" cy="647700"/>
          </a:xfrm>
          <a:prstGeom prst="ellipse">
            <a:avLst/>
          </a:prstGeom>
          <a:solidFill>
            <a:srgbClr val="73D5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43D1ACF-B30C-4FB6-AEE4-2A7875EA20EB}"/>
              </a:ext>
            </a:extLst>
          </p:cNvPr>
          <p:cNvSpPr>
            <a:spLocks noGrp="1"/>
          </p:cNvSpPr>
          <p:nvPr/>
        </p:nvSpPr>
        <p:spPr>
          <a:xfrm>
            <a:off x="2238375" y="3352800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7F5F0F0-8B28-4A98-BDB3-8EAEAC4F6C3D}"/>
              </a:ext>
            </a:extLst>
          </p:cNvPr>
          <p:cNvSpPr>
            <a:spLocks noGrp="1"/>
          </p:cNvSpPr>
          <p:nvPr/>
        </p:nvSpPr>
        <p:spPr>
          <a:xfrm>
            <a:off x="1914525" y="4057650"/>
            <a:ext cx="129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Группа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F419C4FF-8875-4EAD-9204-42F3DB836E57}"/>
              </a:ext>
            </a:extLst>
          </p:cNvPr>
          <p:cNvSpPr>
            <a:spLocks noGrp="1"/>
          </p:cNvSpPr>
          <p:nvPr/>
        </p:nvSpPr>
        <p:spPr>
          <a:xfrm>
            <a:off x="3600450" y="3190875"/>
            <a:ext cx="647700" cy="647700"/>
          </a:xfrm>
          <a:prstGeom prst="ellipse">
            <a:avLst/>
          </a:prstGeom>
          <a:solidFill>
            <a:srgbClr val="67D4B0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2DE648A-4501-456C-936B-A5F0EACF8957}"/>
              </a:ext>
            </a:extLst>
          </p:cNvPr>
          <p:cNvSpPr>
            <a:spLocks noGrp="1"/>
          </p:cNvSpPr>
          <p:nvPr/>
        </p:nvSpPr>
        <p:spPr>
          <a:xfrm>
            <a:off x="3600450" y="3352800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55644A6-6650-4CF6-849E-BD7EF74165C3}"/>
              </a:ext>
            </a:extLst>
          </p:cNvPr>
          <p:cNvSpPr>
            <a:spLocks noGrp="1"/>
          </p:cNvSpPr>
          <p:nvPr/>
        </p:nvSpPr>
        <p:spPr>
          <a:xfrm>
            <a:off x="3276600" y="4057650"/>
            <a:ext cx="129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Студент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EC7D87A7-5CC7-4BE2-B32E-7498B440D7B6}"/>
              </a:ext>
            </a:extLst>
          </p:cNvPr>
          <p:cNvSpPr>
            <a:spLocks noGrp="1"/>
          </p:cNvSpPr>
          <p:nvPr/>
        </p:nvSpPr>
        <p:spPr>
          <a:xfrm>
            <a:off x="4962525" y="3190875"/>
            <a:ext cx="647700" cy="647700"/>
          </a:xfrm>
          <a:prstGeom prst="ellipse">
            <a:avLst/>
          </a:prstGeom>
          <a:solidFill>
            <a:srgbClr val="67D4B0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987E8E7-2095-48F4-B84A-775A3C777C13}"/>
              </a:ext>
            </a:extLst>
          </p:cNvPr>
          <p:cNvSpPr>
            <a:spLocks noGrp="1"/>
          </p:cNvSpPr>
          <p:nvPr/>
        </p:nvSpPr>
        <p:spPr>
          <a:xfrm>
            <a:off x="4962525" y="3352800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4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5E5E399-085D-4C15-A7F4-DF2A775D58AD}"/>
              </a:ext>
            </a:extLst>
          </p:cNvPr>
          <p:cNvSpPr>
            <a:spLocks noGrp="1"/>
          </p:cNvSpPr>
          <p:nvPr/>
        </p:nvSpPr>
        <p:spPr>
          <a:xfrm>
            <a:off x="4638675" y="4057650"/>
            <a:ext cx="129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Заполнение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05DB25F5-6DAC-4CA1-B041-C002A8A17A07}"/>
              </a:ext>
            </a:extLst>
          </p:cNvPr>
          <p:cNvSpPr>
            <a:spLocks noGrp="1"/>
          </p:cNvSpPr>
          <p:nvPr/>
        </p:nvSpPr>
        <p:spPr>
          <a:xfrm>
            <a:off x="6324600" y="3190875"/>
            <a:ext cx="647700" cy="647700"/>
          </a:xfrm>
          <a:prstGeom prst="ellipse">
            <a:avLst/>
          </a:prstGeom>
          <a:solidFill>
            <a:srgbClr val="FFCC74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6FE356B-2742-4457-861F-77323D4579C2}"/>
              </a:ext>
            </a:extLst>
          </p:cNvPr>
          <p:cNvSpPr>
            <a:spLocks noGrp="1"/>
          </p:cNvSpPr>
          <p:nvPr/>
        </p:nvSpPr>
        <p:spPr>
          <a:xfrm>
            <a:off x="6324600" y="3352800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5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823F77E-68A9-4D81-BB99-766CB407FBC0}"/>
              </a:ext>
            </a:extLst>
          </p:cNvPr>
          <p:cNvSpPr>
            <a:spLocks noGrp="1"/>
          </p:cNvSpPr>
          <p:nvPr/>
        </p:nvSpPr>
        <p:spPr>
          <a:xfrm>
            <a:off x="6000750" y="4057650"/>
            <a:ext cx="129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Проверка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30AE6AE3-BE03-4414-938F-56B3FA5B8D9E}"/>
              </a:ext>
            </a:extLst>
          </p:cNvPr>
          <p:cNvSpPr>
            <a:spLocks noGrp="1"/>
          </p:cNvSpPr>
          <p:nvPr/>
        </p:nvSpPr>
        <p:spPr>
          <a:xfrm>
            <a:off x="7686675" y="3190875"/>
            <a:ext cx="647700" cy="647700"/>
          </a:xfrm>
          <a:prstGeom prst="ellipse">
            <a:avLst/>
          </a:prstGeom>
          <a:solidFill>
            <a:srgbClr val="FF8C8C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36A06AE-6F9B-4B85-A8CA-A6550C340B82}"/>
              </a:ext>
            </a:extLst>
          </p:cNvPr>
          <p:cNvSpPr>
            <a:spLocks noGrp="1"/>
          </p:cNvSpPr>
          <p:nvPr/>
        </p:nvSpPr>
        <p:spPr>
          <a:xfrm>
            <a:off x="7686675" y="3352800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6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B97CD0D-BEB4-4F06-87EC-902C46A7D39C}"/>
              </a:ext>
            </a:extLst>
          </p:cNvPr>
          <p:cNvSpPr>
            <a:spLocks noGrp="1"/>
          </p:cNvSpPr>
          <p:nvPr/>
        </p:nvSpPr>
        <p:spPr>
          <a:xfrm>
            <a:off x="7362825" y="4057650"/>
            <a:ext cx="129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Правки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3AD4EDA4-728E-491F-9D40-A5660C60F521}"/>
              </a:ext>
            </a:extLst>
          </p:cNvPr>
          <p:cNvSpPr>
            <a:spLocks noGrp="1"/>
          </p:cNvSpPr>
          <p:nvPr/>
        </p:nvSpPr>
        <p:spPr>
          <a:xfrm>
            <a:off x="9048750" y="3190875"/>
            <a:ext cx="647700" cy="647700"/>
          </a:xfrm>
          <a:prstGeom prst="ellipse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20A2351-1910-4FC3-8F45-721705757376}"/>
              </a:ext>
            </a:extLst>
          </p:cNvPr>
          <p:cNvSpPr>
            <a:spLocks noGrp="1"/>
          </p:cNvSpPr>
          <p:nvPr/>
        </p:nvSpPr>
        <p:spPr>
          <a:xfrm>
            <a:off x="9048750" y="3352800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7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865BEDE-AA62-4E9C-A940-07B67376E86D}"/>
              </a:ext>
            </a:extLst>
          </p:cNvPr>
          <p:cNvSpPr>
            <a:spLocks noGrp="1"/>
          </p:cNvSpPr>
          <p:nvPr/>
        </p:nvSpPr>
        <p:spPr>
          <a:xfrm>
            <a:off x="8724900" y="4057650"/>
            <a:ext cx="129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Утверждение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40874329-623A-448E-ADCA-E9D6C739E8C0}"/>
              </a:ext>
            </a:extLst>
          </p:cNvPr>
          <p:cNvSpPr>
            <a:spLocks noGrp="1"/>
          </p:cNvSpPr>
          <p:nvPr/>
        </p:nvSpPr>
        <p:spPr>
          <a:xfrm>
            <a:off x="10410825" y="3190875"/>
            <a:ext cx="647700" cy="647700"/>
          </a:xfrm>
          <a:prstGeom prst="ellipse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75B35D2-12B6-416E-940D-5D41F88C99D2}"/>
              </a:ext>
            </a:extLst>
          </p:cNvPr>
          <p:cNvSpPr>
            <a:spLocks noGrp="1"/>
          </p:cNvSpPr>
          <p:nvPr/>
        </p:nvSpPr>
        <p:spPr>
          <a:xfrm>
            <a:off x="10410825" y="3352800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8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D79B0A8-8AB7-44C3-89A6-6FFF4E4786AF}"/>
              </a:ext>
            </a:extLst>
          </p:cNvPr>
          <p:cNvSpPr>
            <a:spLocks noGrp="1"/>
          </p:cNvSpPr>
          <p:nvPr/>
        </p:nvSpPr>
        <p:spPr>
          <a:xfrm>
            <a:off x="10086975" y="4057650"/>
            <a:ext cx="129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Word / PDF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EB78C12-B549-46B2-A92B-5527F5EF1683}"/>
              </a:ext>
            </a:extLst>
          </p:cNvPr>
          <p:cNvSpPr>
            <a:spLocks noGrp="1"/>
          </p:cNvSpPr>
          <p:nvPr/>
        </p:nvSpPr>
        <p:spPr>
          <a:xfrm>
            <a:off x="1219200" y="5248275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>
                <a:solidFill>
                  <a:srgbClr val="C7D0EA"/>
                </a:solidFill>
              </a:defRPr>
            </a:pPr>
            <a:r>
              <a:rPr sz="1725">
                <a:solidFill>
                  <a:srgbClr val="C7D0EA"/>
                </a:solidFill>
              </a:rPr>
              <a:t>Роли разделены: преподаватель задаёт структуру и проверяет; студент работает только со своим черновиком.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01A8B21-9B9E-4D9A-8952-9AEF120FF12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AEB9D6"/>
                </a:solidFill>
              </a:defRPr>
            </a:pPr>
            <a:r>
              <a:rPr sz="975" dirty="0" err="1">
                <a:solidFill>
                  <a:srgbClr val="AEB9D6"/>
                </a:solidFill>
              </a:rPr>
              <a:t>PracticeFlow</a:t>
            </a:r>
            <a:r>
              <a:rPr sz="975" dirty="0">
                <a:solidFill>
                  <a:srgbClr val="AEB9D6"/>
                </a:solidFill>
              </a:rPr>
              <a:t>  •</a:t>
            </a:r>
          </a:p>
        </p:txBody>
      </p:sp>
    </p:spTree>
    <p:extLst>
      <p:ext uri="{BB962C8B-B14F-4D97-AF65-F5344CB8AC3E}">
        <p14:creationId xmlns:p14="http://schemas.microsoft.com/office/powerpoint/2010/main" val="515863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EA4239D-A4C7-44DB-B5F1-CDB14FCE0E1B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ФАКТИЧЕСКИЙ СТАТУС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F589194-3751-4B2B-A5C6-B4A8E94596D9}"/>
              </a:ext>
            </a:extLst>
          </p:cNvPr>
          <p:cNvSpPr>
            <a:spLocks noGrp="1"/>
          </p:cNvSpPr>
          <p:nvPr/>
        </p:nvSpPr>
        <p:spPr>
          <a:xfrm>
            <a:off x="704850" y="790575"/>
            <a:ext cx="971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18233A"/>
                </a:solidFill>
              </a:defRPr>
            </a:pPr>
            <a:r>
              <a:rPr sz="3150" b="1" dirty="0">
                <a:solidFill>
                  <a:srgbClr val="18233A"/>
                </a:solidFill>
              </a:rPr>
              <a:t>MVP: </a:t>
            </a:r>
            <a:r>
              <a:rPr sz="3150" b="1" dirty="0" err="1">
                <a:solidFill>
                  <a:srgbClr val="18233A"/>
                </a:solidFill>
              </a:rPr>
              <a:t>сильный</a:t>
            </a:r>
            <a:r>
              <a:rPr sz="3150" b="1" dirty="0">
                <a:solidFill>
                  <a:srgbClr val="18233A"/>
                </a:solidFill>
              </a:rPr>
              <a:t> API-фундамент, </a:t>
            </a:r>
            <a:r>
              <a:rPr sz="3150" b="1" dirty="0" err="1">
                <a:solidFill>
                  <a:srgbClr val="18233A"/>
                </a:solidFill>
              </a:rPr>
              <a:t>но</a:t>
            </a:r>
            <a:r>
              <a:rPr sz="3150" b="1" dirty="0">
                <a:solidFill>
                  <a:srgbClr val="18233A"/>
                </a:solidFill>
              </a:rPr>
              <a:t> </a:t>
            </a:r>
            <a:r>
              <a:rPr sz="3150" b="1" dirty="0" err="1">
                <a:solidFill>
                  <a:srgbClr val="18233A"/>
                </a:solidFill>
              </a:rPr>
              <a:t>пользовательский</a:t>
            </a:r>
            <a:r>
              <a:rPr sz="3150" b="1" dirty="0">
                <a:solidFill>
                  <a:srgbClr val="18233A"/>
                </a:solidFill>
              </a:rPr>
              <a:t> </a:t>
            </a:r>
            <a:r>
              <a:rPr sz="3150" b="1" dirty="0" err="1">
                <a:solidFill>
                  <a:srgbClr val="18233A"/>
                </a:solidFill>
              </a:rPr>
              <a:t>поток</a:t>
            </a:r>
            <a:r>
              <a:rPr sz="3150" b="1" dirty="0">
                <a:solidFill>
                  <a:srgbClr val="18233A"/>
                </a:solidFill>
              </a:rPr>
              <a:t> </a:t>
            </a:r>
            <a:r>
              <a:rPr sz="3150" b="1" dirty="0" err="1">
                <a:solidFill>
                  <a:srgbClr val="18233A"/>
                </a:solidFill>
              </a:rPr>
              <a:t>ещё</a:t>
            </a:r>
            <a:r>
              <a:rPr sz="3150" b="1" dirty="0">
                <a:solidFill>
                  <a:srgbClr val="18233A"/>
                </a:solidFill>
              </a:rPr>
              <a:t> </a:t>
            </a:r>
            <a:r>
              <a:rPr sz="3150" b="1" dirty="0" err="1">
                <a:solidFill>
                  <a:srgbClr val="18233A"/>
                </a:solidFill>
              </a:rPr>
              <a:t>не</a:t>
            </a:r>
            <a:r>
              <a:rPr sz="3150" b="1" dirty="0">
                <a:solidFill>
                  <a:srgbClr val="18233A"/>
                </a:solidFill>
              </a:rPr>
              <a:t> </a:t>
            </a:r>
            <a:r>
              <a:rPr sz="3150" b="1" dirty="0" err="1">
                <a:solidFill>
                  <a:srgbClr val="18233A"/>
                </a:solidFill>
              </a:rPr>
              <a:t>замкнут</a:t>
            </a:r>
            <a:endParaRPr sz="3150" b="1" dirty="0">
              <a:solidFill>
                <a:srgbClr val="18233A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9EEE83E-B7FA-40B1-AF83-A51B7EDCD7E7}"/>
              </a:ext>
            </a:extLst>
          </p:cNvPr>
          <p:cNvSpPr>
            <a:spLocks noGrp="1"/>
          </p:cNvSpPr>
          <p:nvPr/>
        </p:nvSpPr>
        <p:spPr>
          <a:xfrm>
            <a:off x="838200" y="1319213"/>
            <a:ext cx="723900" cy="38100"/>
          </a:xfrm>
          <a:prstGeom prst="rect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262CD3C-E1AE-41F4-A77B-18BEE98E357D}"/>
              </a:ext>
            </a:extLst>
          </p:cNvPr>
          <p:cNvSpPr>
            <a:spLocks noGrp="1"/>
          </p:cNvSpPr>
          <p:nvPr/>
        </p:nvSpPr>
        <p:spPr>
          <a:xfrm>
            <a:off x="10858500" y="51435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37CBAB8-63BE-4C78-9119-EED4C27ECC65}"/>
              </a:ext>
            </a:extLst>
          </p:cNvPr>
          <p:cNvSpPr>
            <a:spLocks noGrp="1"/>
          </p:cNvSpPr>
          <p:nvPr/>
        </p:nvSpPr>
        <p:spPr>
          <a:xfrm>
            <a:off x="716580" y="1935380"/>
            <a:ext cx="45719" cy="3493268"/>
          </a:xfrm>
          <a:prstGeom prst="rect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2354FA-B4F6-4D57-9797-5EDB0F992040}"/>
              </a:ext>
            </a:extLst>
          </p:cNvPr>
          <p:cNvSpPr>
            <a:spLocks noGrp="1"/>
          </p:cNvSpPr>
          <p:nvPr/>
        </p:nvSpPr>
        <p:spPr>
          <a:xfrm>
            <a:off x="933450" y="18288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18233A"/>
                </a:solidFill>
              </a:defRPr>
            </a:pPr>
            <a:r>
              <a:rPr sz="1950" b="1">
                <a:solidFill>
                  <a:srgbClr val="18233A"/>
                </a:solidFill>
              </a:rPr>
              <a:t>Реализовано в коде и API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7CE09F84-99AB-4FB9-B48B-E5D252C8E5CD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114300" cy="114300"/>
          </a:xfrm>
          <a:prstGeom prst="ellipse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E752CFA-325F-4438-A3C0-41727996C164}"/>
              </a:ext>
            </a:extLst>
          </p:cNvPr>
          <p:cNvSpPr>
            <a:spLocks noGrp="1"/>
          </p:cNvSpPr>
          <p:nvPr/>
        </p:nvSpPr>
        <p:spPr>
          <a:xfrm>
            <a:off x="1200150" y="226695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JWT, refresh/logout, 4 роли и tenant isolation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620C48C-B7C7-4AE4-ADF4-01FEB1F6FC10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14300" cy="114300"/>
          </a:xfrm>
          <a:prstGeom prst="ellipse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285FA5E-29C9-4A5C-A4FF-E313962C031F}"/>
              </a:ext>
            </a:extLst>
          </p:cNvPr>
          <p:cNvSpPr>
            <a:spLocks noGrp="1"/>
          </p:cNvSpPr>
          <p:nvPr/>
        </p:nvSpPr>
        <p:spPr>
          <a:xfrm>
            <a:off x="1200150" y="27813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Группы, шаблоны, версии и назначение практики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B7A2D962-3ADF-43CD-A39C-28F17CFF7BD2}"/>
              </a:ext>
            </a:extLst>
          </p:cNvPr>
          <p:cNvSpPr>
            <a:spLocks noGrp="1"/>
          </p:cNvSpPr>
          <p:nvPr/>
        </p:nvSpPr>
        <p:spPr>
          <a:xfrm>
            <a:off x="952500" y="3409950"/>
            <a:ext cx="114300" cy="114300"/>
          </a:xfrm>
          <a:prstGeom prst="ellipse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90113B8-BEDA-499D-A72B-600EB8484C24}"/>
              </a:ext>
            </a:extLst>
          </p:cNvPr>
          <p:cNvSpPr>
            <a:spLocks noGrp="1"/>
          </p:cNvSpPr>
          <p:nvPr/>
        </p:nvSpPr>
        <p:spPr>
          <a:xfrm>
            <a:off x="1200150" y="329565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Структурированный редактор: разделы, таблицы, изображения, стили, нумерация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E9979FDD-11EB-4745-9663-638680E34EAF}"/>
              </a:ext>
            </a:extLst>
          </p:cNvPr>
          <p:cNvSpPr>
            <a:spLocks noGrp="1"/>
          </p:cNvSpPr>
          <p:nvPr/>
        </p:nvSpPr>
        <p:spPr>
          <a:xfrm>
            <a:off x="952500" y="3924300"/>
            <a:ext cx="114300" cy="114300"/>
          </a:xfrm>
          <a:prstGeom prst="ellipse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FA43B7A-6624-4BFB-932D-673B9D640E80}"/>
              </a:ext>
            </a:extLst>
          </p:cNvPr>
          <p:cNvSpPr>
            <a:spLocks noGrp="1"/>
          </p:cNvSpPr>
          <p:nvPr/>
        </p:nvSpPr>
        <p:spPr>
          <a:xfrm>
            <a:off x="1200150" y="38100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Черновики, отправка, повторная отправка и история версий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D475175F-C518-4E0D-B6EA-3304B0E34A3C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114300" cy="114300"/>
          </a:xfrm>
          <a:prstGeom prst="ellipse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E72DE92-C5DA-4AF2-83B7-AF9C9D11623A}"/>
              </a:ext>
            </a:extLst>
          </p:cNvPr>
          <p:cNvSpPr>
            <a:spLocks noGrp="1"/>
          </p:cNvSpPr>
          <p:nvPr/>
        </p:nvSpPr>
        <p:spPr>
          <a:xfrm>
            <a:off x="1200150" y="432435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API проверки: статусы, inline/general comments, ответы и resolve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01133784-4A6D-4250-9055-52F4C14C9849}"/>
              </a:ext>
            </a:extLst>
          </p:cNvPr>
          <p:cNvSpPr>
            <a:spLocks noGrp="1"/>
          </p:cNvSpPr>
          <p:nvPr/>
        </p:nvSpPr>
        <p:spPr>
          <a:xfrm>
            <a:off x="952500" y="4953000"/>
            <a:ext cx="114300" cy="114300"/>
          </a:xfrm>
          <a:prstGeom prst="ellipse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ABAAAC2-704C-4343-A1B5-6A50DD9D74FC}"/>
              </a:ext>
            </a:extLst>
          </p:cNvPr>
          <p:cNvSpPr>
            <a:spLocks noGrp="1"/>
          </p:cNvSpPr>
          <p:nvPr/>
        </p:nvSpPr>
        <p:spPr>
          <a:xfrm>
            <a:off x="1200150" y="48387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API-экспорт DOCX/PDF с полями, отступами и форматированием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019AEFB-77D1-4405-8A19-C8C873161055}"/>
              </a:ext>
            </a:extLst>
          </p:cNvPr>
          <p:cNvSpPr>
            <a:spLocks noGrp="1"/>
          </p:cNvSpPr>
          <p:nvPr/>
        </p:nvSpPr>
        <p:spPr>
          <a:xfrm>
            <a:off x="6267449" y="1943100"/>
            <a:ext cx="45719" cy="3124200"/>
          </a:xfrm>
          <a:prstGeom prst="rect">
            <a:avLst/>
          </a:prstGeom>
          <a:solidFill>
            <a:srgbClr val="FFCC74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E48AF01-147D-49C1-975D-7D07FBCE6B65}"/>
              </a:ext>
            </a:extLst>
          </p:cNvPr>
          <p:cNvSpPr>
            <a:spLocks noGrp="1"/>
          </p:cNvSpPr>
          <p:nvPr/>
        </p:nvSpPr>
        <p:spPr>
          <a:xfrm>
            <a:off x="6438900" y="182880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18233A"/>
                </a:solidFill>
              </a:defRPr>
            </a:pPr>
            <a:r>
              <a:rPr sz="1950" b="1">
                <a:solidFill>
                  <a:srgbClr val="18233A"/>
                </a:solidFill>
              </a:rPr>
              <a:t>Нужно завершить перед пилотом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2B8CE0C0-B9BE-4512-B4CE-3F615247A4EF}"/>
              </a:ext>
            </a:extLst>
          </p:cNvPr>
          <p:cNvSpPr>
            <a:spLocks noGrp="1"/>
          </p:cNvSpPr>
          <p:nvPr/>
        </p:nvSpPr>
        <p:spPr>
          <a:xfrm>
            <a:off x="6457950" y="2381250"/>
            <a:ext cx="114300" cy="114300"/>
          </a:xfrm>
          <a:prstGeom prst="ellipse">
            <a:avLst/>
          </a:prstGeom>
          <a:solidFill>
            <a:srgbClr val="FFCC74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FDA4BAE-C8C3-457E-BF38-F3B378EC07FB}"/>
              </a:ext>
            </a:extLst>
          </p:cNvPr>
          <p:cNvSpPr>
            <a:spLocks noGrp="1"/>
          </p:cNvSpPr>
          <p:nvPr/>
        </p:nvSpPr>
        <p:spPr>
          <a:xfrm>
            <a:off x="6705600" y="226695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UI публикации практики — API есть, кнопки нет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DB6276AF-368A-4394-806B-CB3C8C85B8AD}"/>
              </a:ext>
            </a:extLst>
          </p:cNvPr>
          <p:cNvSpPr>
            <a:spLocks noGrp="1"/>
          </p:cNvSpPr>
          <p:nvPr/>
        </p:nvSpPr>
        <p:spPr>
          <a:xfrm>
            <a:off x="6457950" y="2962275"/>
            <a:ext cx="114300" cy="114300"/>
          </a:xfrm>
          <a:prstGeom prst="ellipse">
            <a:avLst/>
          </a:prstGeom>
          <a:solidFill>
            <a:srgbClr val="FFCC74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178F4BB-2BC5-4A54-AAFC-45E603FFA1F6}"/>
              </a:ext>
            </a:extLst>
          </p:cNvPr>
          <p:cNvSpPr>
            <a:spLocks noGrp="1"/>
          </p:cNvSpPr>
          <p:nvPr/>
        </p:nvSpPr>
        <p:spPr>
          <a:xfrm>
            <a:off x="6705600" y="2847975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UI review/comments/history и скачивание экспортов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32E7008-531A-4E3E-AEAD-F241E41B22B5}"/>
              </a:ext>
            </a:extLst>
          </p:cNvPr>
          <p:cNvSpPr>
            <a:spLocks noGrp="1"/>
          </p:cNvSpPr>
          <p:nvPr/>
        </p:nvSpPr>
        <p:spPr>
          <a:xfrm>
            <a:off x="6457950" y="3543300"/>
            <a:ext cx="114300" cy="114300"/>
          </a:xfrm>
          <a:prstGeom prst="ellipse">
            <a:avLst/>
          </a:prstGeom>
          <a:solidFill>
            <a:srgbClr val="FFCC74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E7D893C-7CEA-462A-A1AA-85A1AB147FB4}"/>
              </a:ext>
            </a:extLst>
          </p:cNvPr>
          <p:cNvSpPr>
            <a:spLocks noGrp="1"/>
          </p:cNvSpPr>
          <p:nvPr/>
        </p:nvSpPr>
        <p:spPr>
          <a:xfrm>
            <a:off x="6705600" y="342900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Рабочие панели Director и Super Admin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A99ECC7D-DEED-4862-9D07-A992DEA1F67B}"/>
              </a:ext>
            </a:extLst>
          </p:cNvPr>
          <p:cNvSpPr>
            <a:spLocks noGrp="1"/>
          </p:cNvSpPr>
          <p:nvPr/>
        </p:nvSpPr>
        <p:spPr>
          <a:xfrm>
            <a:off x="6457950" y="4124325"/>
            <a:ext cx="114300" cy="114300"/>
          </a:xfrm>
          <a:prstGeom prst="ellipse">
            <a:avLst/>
          </a:prstGeom>
          <a:solidFill>
            <a:srgbClr val="FFCC74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0CA664B-8C1A-4EEF-AD5A-62AA4A57B3A7}"/>
              </a:ext>
            </a:extLst>
          </p:cNvPr>
          <p:cNvSpPr>
            <a:spLocks noGrp="1"/>
          </p:cNvSpPr>
          <p:nvPr/>
        </p:nvSpPr>
        <p:spPr>
          <a:xfrm>
            <a:off x="6705600" y="4010025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Управление организациями, профилями, группами — пока seed/API foundation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2A57B760-1F10-4AB4-A98C-AA24FC39472D}"/>
              </a:ext>
            </a:extLst>
          </p:cNvPr>
          <p:cNvSpPr>
            <a:spLocks noGrp="1"/>
          </p:cNvSpPr>
          <p:nvPr/>
        </p:nvSpPr>
        <p:spPr>
          <a:xfrm>
            <a:off x="6457950" y="4705350"/>
            <a:ext cx="114300" cy="114300"/>
          </a:xfrm>
          <a:prstGeom prst="ellipse">
            <a:avLst/>
          </a:prstGeom>
          <a:solidFill>
            <a:srgbClr val="FFCC74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3D37A66-3A46-413F-A488-ADB9269C34B5}"/>
              </a:ext>
            </a:extLst>
          </p:cNvPr>
          <p:cNvSpPr>
            <a:spLocks noGrp="1"/>
          </p:cNvSpPr>
          <p:nvPr/>
        </p:nvSpPr>
        <p:spPr>
          <a:xfrm>
            <a:off x="6705600" y="459105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End-to-end проверка Docker и PDF-зависимостей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5B56122-B855-4093-B556-63EC5DE1CFE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60708D"/>
                </a:solidFill>
              </a:defRPr>
            </a:pPr>
            <a:r>
              <a:rPr sz="975" dirty="0" err="1">
                <a:solidFill>
                  <a:srgbClr val="60708D"/>
                </a:solidFill>
              </a:rPr>
              <a:t>PracticeFlow</a:t>
            </a:r>
            <a:r>
              <a:rPr sz="975" dirty="0">
                <a:solidFill>
                  <a:srgbClr val="60708D"/>
                </a:solidFill>
              </a:rPr>
              <a:t>  •</a:t>
            </a:r>
          </a:p>
        </p:txBody>
      </p:sp>
    </p:spTree>
    <p:extLst>
      <p:ext uri="{BB962C8B-B14F-4D97-AF65-F5344CB8AC3E}">
        <p14:creationId xmlns:p14="http://schemas.microsoft.com/office/powerpoint/2010/main" val="1578619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7344A5C-DBD5-439B-ACCB-893CE409A057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ДЕМОНСТРАЦИЯ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6EF523D-878E-4463-B0C2-EFBA3A21E4D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71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18233A"/>
                </a:solidFill>
              </a:defRPr>
            </a:pPr>
            <a:r>
              <a:rPr sz="3150" b="1">
                <a:solidFill>
                  <a:srgbClr val="18233A"/>
                </a:solidFill>
              </a:rPr>
              <a:t>Реальные экраны MVP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25711BE-E213-472F-A560-8CAFD1E0750D}"/>
              </a:ext>
            </a:extLst>
          </p:cNvPr>
          <p:cNvSpPr>
            <a:spLocks noGrp="1"/>
          </p:cNvSpPr>
          <p:nvPr/>
        </p:nvSpPr>
        <p:spPr>
          <a:xfrm>
            <a:off x="820553" y="1362075"/>
            <a:ext cx="723900" cy="38100"/>
          </a:xfrm>
          <a:prstGeom prst="rect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6AF9B3F-F3B0-4368-8D69-633FE82C4611}"/>
              </a:ext>
            </a:extLst>
          </p:cNvPr>
          <p:cNvSpPr>
            <a:spLocks noGrp="1"/>
          </p:cNvSpPr>
          <p:nvPr/>
        </p:nvSpPr>
        <p:spPr>
          <a:xfrm>
            <a:off x="10858500" y="51435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06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F385170-7127-41ED-A94D-67764E7C9AC1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60708D"/>
                </a:solidFill>
              </a:defRPr>
            </a:pPr>
            <a:r>
              <a:rPr sz="975" dirty="0" err="1">
                <a:solidFill>
                  <a:srgbClr val="60708D"/>
                </a:solidFill>
              </a:rPr>
              <a:t>PracticeFlow</a:t>
            </a:r>
            <a:r>
              <a:rPr sz="975" dirty="0">
                <a:solidFill>
                  <a:srgbClr val="60708D"/>
                </a:solidFill>
              </a:rPr>
              <a:t>  •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9599051-102B-4938-B612-B1326DADC616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60708D"/>
                </a:solidFill>
              </a:defRPr>
            </a:pPr>
            <a:r>
              <a:rPr sz="1425">
                <a:solidFill>
                  <a:srgbClr val="60708D"/>
                </a:solidFill>
              </a:rPr>
              <a:t>Учитель и студент: группы, шаблоны и отчёты — фактические экраны реализации.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7F5F1CF5-080E-4820-B898-A3640BC8D9E8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50482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9" name="Рисунок 48"/>
          <p:cNvPicPr>
            <a:picLocks noChangeAspect="1"/>
          </p:cNvPicPr>
          <p:nvPr/>
        </p:nvPicPr>
        <p:blipFill>
          <a:blip r:embed="rId3"/>
          <a:srcRect t="1866" b="1866"/>
          <a:stretch>
            <a:fillRect/>
          </a:stretch>
        </p:blipFill>
        <p:spPr>
          <a:xfrm>
            <a:off x="704850" y="2362200"/>
            <a:ext cx="5010150" cy="1581150"/>
          </a:xfrm>
          <a:prstGeom prst="roundRect">
            <a:avLst>
              <a:gd name="adj" fmla="val 7229"/>
            </a:avLst>
          </a:prstGeom>
        </p:spPr>
      </p:pic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31FCA95-7C55-4955-B358-EA480F7F0A90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8233A"/>
                </a:solidFill>
              </a:defRPr>
            </a:pPr>
            <a:r>
              <a:rPr sz="1200" b="1">
                <a:solidFill>
                  <a:srgbClr val="18233A"/>
                </a:solidFill>
              </a:rPr>
              <a:t>Учитель • Мои группы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8FBE1A79-7050-4EE9-8D70-927BEEEDD5DE}"/>
              </a:ext>
            </a:extLst>
          </p:cNvPr>
          <p:cNvSpPr>
            <a:spLocks noGrp="1"/>
          </p:cNvSpPr>
          <p:nvPr/>
        </p:nvSpPr>
        <p:spPr>
          <a:xfrm>
            <a:off x="6076950" y="2343150"/>
            <a:ext cx="50482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2" name="Рисунок 51"/>
          <p:cNvPicPr>
            <a:picLocks noChangeAspect="1"/>
          </p:cNvPicPr>
          <p:nvPr/>
        </p:nvPicPr>
        <p:blipFill>
          <a:blip r:embed="rId4"/>
          <a:srcRect t="1874" b="1874"/>
          <a:stretch>
            <a:fillRect/>
          </a:stretch>
        </p:blipFill>
        <p:spPr>
          <a:xfrm>
            <a:off x="6096000" y="2362200"/>
            <a:ext cx="5010150" cy="1581150"/>
          </a:xfrm>
          <a:prstGeom prst="roundRect">
            <a:avLst>
              <a:gd name="adj" fmla="val 7229"/>
            </a:avLst>
          </a:prstGeom>
        </p:spPr>
      </p:pic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2B61B0C-4288-442C-A126-02D90ACEE59E}"/>
              </a:ext>
            </a:extLst>
          </p:cNvPr>
          <p:cNvSpPr>
            <a:spLocks noGrp="1"/>
          </p:cNvSpPr>
          <p:nvPr/>
        </p:nvSpPr>
        <p:spPr>
          <a:xfrm>
            <a:off x="6076950" y="405765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8233A"/>
                </a:solidFill>
              </a:defRPr>
            </a:pPr>
            <a:r>
              <a:rPr sz="1200" b="1">
                <a:solidFill>
                  <a:srgbClr val="18233A"/>
                </a:solidFill>
              </a:rPr>
              <a:t>Учитель • Шаблоны отчётов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5CE1AB34-BFED-46E9-AAA7-BA89E9B998D4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50482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5" name="Рисунок 54"/>
          <p:cNvPicPr>
            <a:picLocks noChangeAspect="1"/>
          </p:cNvPicPr>
          <p:nvPr/>
        </p:nvPicPr>
        <p:blipFill>
          <a:blip r:embed="rId5"/>
          <a:srcRect t="1863" b="1863"/>
          <a:stretch>
            <a:fillRect/>
          </a:stretch>
        </p:blipFill>
        <p:spPr>
          <a:xfrm>
            <a:off x="704850" y="4457700"/>
            <a:ext cx="5010150" cy="1581150"/>
          </a:xfrm>
          <a:prstGeom prst="roundRect">
            <a:avLst>
              <a:gd name="adj" fmla="val 7229"/>
            </a:avLst>
          </a:prstGeom>
        </p:spPr>
      </p:pic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7F6B095C-58C0-4E56-9E8C-335D3F2A3C84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8233A"/>
                </a:solidFill>
              </a:defRPr>
            </a:pPr>
            <a:r>
              <a:rPr sz="1200" b="1">
                <a:solidFill>
                  <a:srgbClr val="18233A"/>
                </a:solidFill>
              </a:rPr>
              <a:t>Учитель • Редактор шаблона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70581A28-6E21-42AD-A58E-A80513992D95}"/>
              </a:ext>
            </a:extLst>
          </p:cNvPr>
          <p:cNvSpPr>
            <a:spLocks noGrp="1"/>
          </p:cNvSpPr>
          <p:nvPr/>
        </p:nvSpPr>
        <p:spPr>
          <a:xfrm>
            <a:off x="6076950" y="4438650"/>
            <a:ext cx="50482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8" name="Рисунок 57"/>
          <p:cNvPicPr>
            <a:picLocks noChangeAspect="1"/>
          </p:cNvPicPr>
          <p:nvPr/>
        </p:nvPicPr>
        <p:blipFill>
          <a:blip r:embed="rId6"/>
          <a:srcRect t="1905" b="1905"/>
          <a:stretch>
            <a:fillRect/>
          </a:stretch>
        </p:blipFill>
        <p:spPr>
          <a:xfrm>
            <a:off x="6096000" y="4457700"/>
            <a:ext cx="5010150" cy="1581150"/>
          </a:xfrm>
          <a:prstGeom prst="roundRect">
            <a:avLst>
              <a:gd name="adj" fmla="val 7229"/>
            </a:avLst>
          </a:prstGeom>
        </p:spPr>
      </p:pic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D84F160E-3405-4974-8CBC-C3800B4620A5}"/>
              </a:ext>
            </a:extLst>
          </p:cNvPr>
          <p:cNvSpPr>
            <a:spLocks noGrp="1"/>
          </p:cNvSpPr>
          <p:nvPr/>
        </p:nvSpPr>
        <p:spPr>
          <a:xfrm>
            <a:off x="6076950" y="615315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8233A"/>
                </a:solidFill>
              </a:defRPr>
            </a:pPr>
            <a:r>
              <a:rPr sz="1200" b="1">
                <a:solidFill>
                  <a:srgbClr val="18233A"/>
                </a:solidFill>
              </a:rPr>
              <a:t>Студент • Редактор отчёта</a:t>
            </a:r>
          </a:p>
        </p:txBody>
      </p:sp>
    </p:spTree>
    <p:extLst>
      <p:ext uri="{BB962C8B-B14F-4D97-AF65-F5344CB8AC3E}">
        <p14:creationId xmlns:p14="http://schemas.microsoft.com/office/powerpoint/2010/main" val="592965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6D9EEC1-0BC0-443E-BA52-1D48BB7FA88D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ИТОГ И ПЛАН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84D0164-AB0B-4A10-9842-30B9C16E855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71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18233A"/>
                </a:solidFill>
              </a:defRPr>
            </a:pPr>
            <a:r>
              <a:rPr sz="3150" b="1">
                <a:solidFill>
                  <a:srgbClr val="18233A"/>
                </a:solidFill>
              </a:rPr>
              <a:t>Следующий этап — замкнуть путь пользователя и подтвердить его на практике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6E6AD72-D535-474B-8BD2-42DE88D62233}"/>
              </a:ext>
            </a:extLst>
          </p:cNvPr>
          <p:cNvSpPr>
            <a:spLocks noGrp="1"/>
          </p:cNvSpPr>
          <p:nvPr/>
        </p:nvSpPr>
        <p:spPr>
          <a:xfrm>
            <a:off x="800100" y="1343025"/>
            <a:ext cx="723900" cy="38100"/>
          </a:xfrm>
          <a:prstGeom prst="rect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318909-7274-4632-80F8-496B35913257}"/>
              </a:ext>
            </a:extLst>
          </p:cNvPr>
          <p:cNvSpPr>
            <a:spLocks noGrp="1"/>
          </p:cNvSpPr>
          <p:nvPr/>
        </p:nvSpPr>
        <p:spPr>
          <a:xfrm>
            <a:off x="10858500" y="51435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07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DEDA0E5-10C9-46EA-96BF-7E49F3D65666}"/>
              </a:ext>
            </a:extLst>
          </p:cNvPr>
          <p:cNvSpPr>
            <a:spLocks noGrp="1"/>
          </p:cNvSpPr>
          <p:nvPr/>
        </p:nvSpPr>
        <p:spPr>
          <a:xfrm>
            <a:off x="1371600" y="3600450"/>
            <a:ext cx="8591550" cy="38100"/>
          </a:xfrm>
          <a:prstGeom prst="rect">
            <a:avLst/>
          </a:prstGeom>
          <a:solidFill>
            <a:srgbClr val="DCE3F0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62ADA06-AF0F-4345-AD44-0CA87C6A2014}"/>
              </a:ext>
            </a:extLst>
          </p:cNvPr>
          <p:cNvSpPr>
            <a:spLocks noGrp="1"/>
          </p:cNvSpPr>
          <p:nvPr/>
        </p:nvSpPr>
        <p:spPr>
          <a:xfrm>
            <a:off x="1085850" y="3276600"/>
            <a:ext cx="685800" cy="685800"/>
          </a:xfrm>
          <a:prstGeom prst="ellipse">
            <a:avLst/>
          </a:prstGeom>
          <a:solidFill>
            <a:srgbClr val="6D72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3A10466-9052-4AEB-B6FC-AB2E8B68072F}"/>
              </a:ext>
            </a:extLst>
          </p:cNvPr>
          <p:cNvSpPr>
            <a:spLocks noGrp="1"/>
          </p:cNvSpPr>
          <p:nvPr/>
        </p:nvSpPr>
        <p:spPr>
          <a:xfrm>
            <a:off x="1085850" y="346710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3070DBD-0D61-4167-9B52-674BA3095D34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1066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60708D"/>
                </a:solidFill>
              </a:defRPr>
            </a:pPr>
            <a:r>
              <a:rPr sz="1275" b="1">
                <a:solidFill>
                  <a:srgbClr val="60708D"/>
                </a:solidFill>
              </a:rPr>
              <a:t>Сейчас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147CAA1-68D6-4FAA-81AD-750605B169B4}"/>
              </a:ext>
            </a:extLst>
          </p:cNvPr>
          <p:cNvSpPr>
            <a:spLocks noGrp="1"/>
          </p:cNvSpPr>
          <p:nvPr/>
        </p:nvSpPr>
        <p:spPr>
          <a:xfrm>
            <a:off x="495300" y="4629150"/>
            <a:ext cx="1866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18233A"/>
                </a:solidFill>
              </a:defRPr>
            </a:pPr>
            <a:r>
              <a:rPr sz="1575" b="1">
                <a:solidFill>
                  <a:srgbClr val="18233A"/>
                </a:solidFill>
              </a:rPr>
              <a:t>MVP-фундамент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D77187E-7DF9-4AA3-858C-FB53B0B6D4AA}"/>
              </a:ext>
            </a:extLst>
          </p:cNvPr>
          <p:cNvSpPr>
            <a:spLocks noGrp="1"/>
          </p:cNvSpPr>
          <p:nvPr/>
        </p:nvSpPr>
        <p:spPr>
          <a:xfrm>
            <a:off x="3505200" y="3276600"/>
            <a:ext cx="685800" cy="685800"/>
          </a:xfrm>
          <a:prstGeom prst="ellipse">
            <a:avLst/>
          </a:prstGeom>
          <a:solidFill>
            <a:srgbClr val="FFCC74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E84567A-FB4B-4789-BF1D-7F159928056B}"/>
              </a:ext>
            </a:extLst>
          </p:cNvPr>
          <p:cNvSpPr>
            <a:spLocks noGrp="1"/>
          </p:cNvSpPr>
          <p:nvPr/>
        </p:nvSpPr>
        <p:spPr>
          <a:xfrm>
            <a:off x="3505200" y="346710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78EB660-921A-45E6-9653-2EFFFC008A0E}"/>
              </a:ext>
            </a:extLst>
          </p:cNvPr>
          <p:cNvSpPr>
            <a:spLocks noGrp="1"/>
          </p:cNvSpPr>
          <p:nvPr/>
        </p:nvSpPr>
        <p:spPr>
          <a:xfrm>
            <a:off x="3314700" y="4286250"/>
            <a:ext cx="1066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60708D"/>
                </a:solidFill>
              </a:defRPr>
            </a:pPr>
            <a:r>
              <a:rPr sz="1275" b="1">
                <a:solidFill>
                  <a:srgbClr val="60708D"/>
                </a:solidFill>
              </a:rPr>
              <a:t>Дальше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4340A2B-8596-430A-B2F4-72B56DB9ADF0}"/>
              </a:ext>
            </a:extLst>
          </p:cNvPr>
          <p:cNvSpPr>
            <a:spLocks noGrp="1"/>
          </p:cNvSpPr>
          <p:nvPr/>
        </p:nvSpPr>
        <p:spPr>
          <a:xfrm>
            <a:off x="2914650" y="4629150"/>
            <a:ext cx="1866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18233A"/>
                </a:solidFill>
              </a:defRPr>
            </a:pPr>
            <a:r>
              <a:rPr sz="1575" b="1">
                <a:solidFill>
                  <a:srgbClr val="18233A"/>
                </a:solidFill>
              </a:rPr>
              <a:t>Публикация + review UI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3408F8B-6D77-4235-B68C-2FDD5C8BA124}"/>
              </a:ext>
            </a:extLst>
          </p:cNvPr>
          <p:cNvSpPr>
            <a:spLocks noGrp="1"/>
          </p:cNvSpPr>
          <p:nvPr/>
        </p:nvSpPr>
        <p:spPr>
          <a:xfrm>
            <a:off x="5924550" y="3276600"/>
            <a:ext cx="685800" cy="685800"/>
          </a:xfrm>
          <a:prstGeom prst="ellipse">
            <a:avLst/>
          </a:prstGeom>
          <a:solidFill>
            <a:srgbClr val="73D5FF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E2CB6AF-36D7-4146-8108-31D640AA874C}"/>
              </a:ext>
            </a:extLst>
          </p:cNvPr>
          <p:cNvSpPr>
            <a:spLocks noGrp="1"/>
          </p:cNvSpPr>
          <p:nvPr/>
        </p:nvSpPr>
        <p:spPr>
          <a:xfrm>
            <a:off x="5924550" y="346710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5B71402-4F0D-47BF-979E-8DCAEECEFF9A}"/>
              </a:ext>
            </a:extLst>
          </p:cNvPr>
          <p:cNvSpPr>
            <a:spLocks noGrp="1"/>
          </p:cNvSpPr>
          <p:nvPr/>
        </p:nvSpPr>
        <p:spPr>
          <a:xfrm>
            <a:off x="5734050" y="4286250"/>
            <a:ext cx="1066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60708D"/>
                </a:solidFill>
              </a:defRPr>
            </a:pPr>
            <a:r>
              <a:rPr sz="1275" b="1">
                <a:solidFill>
                  <a:srgbClr val="60708D"/>
                </a:solidFill>
              </a:rPr>
              <a:t>Затем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2545273-D17B-49DD-B7B6-A1099286C7C5}"/>
              </a:ext>
            </a:extLst>
          </p:cNvPr>
          <p:cNvSpPr>
            <a:spLocks noGrp="1"/>
          </p:cNvSpPr>
          <p:nvPr/>
        </p:nvSpPr>
        <p:spPr>
          <a:xfrm>
            <a:off x="5334000" y="4629150"/>
            <a:ext cx="1866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18233A"/>
                </a:solidFill>
              </a:defRPr>
            </a:pPr>
            <a:r>
              <a:rPr sz="1575" b="1">
                <a:solidFill>
                  <a:srgbClr val="18233A"/>
                </a:solidFill>
              </a:rPr>
              <a:t>Export UI + стабильный Docker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8D40EC3C-B824-4BB7-A28C-95007220C884}"/>
              </a:ext>
            </a:extLst>
          </p:cNvPr>
          <p:cNvSpPr>
            <a:spLocks noGrp="1"/>
          </p:cNvSpPr>
          <p:nvPr/>
        </p:nvSpPr>
        <p:spPr>
          <a:xfrm>
            <a:off x="8343900" y="3276600"/>
            <a:ext cx="685800" cy="685800"/>
          </a:xfrm>
          <a:prstGeom prst="ellipse">
            <a:avLst/>
          </a:prstGeom>
          <a:solidFill>
            <a:srgbClr val="67D4B0"/>
          </a:solidFill>
          <a:ln w="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B43485D-CEFB-41E7-94CB-937642B503F3}"/>
              </a:ext>
            </a:extLst>
          </p:cNvPr>
          <p:cNvSpPr>
            <a:spLocks noGrp="1"/>
          </p:cNvSpPr>
          <p:nvPr/>
        </p:nvSpPr>
        <p:spPr>
          <a:xfrm>
            <a:off x="8343900" y="346710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D77EC76-8BA4-4D01-BDAD-3EA533EC5A88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1066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60708D"/>
                </a:solidFill>
              </a:defRPr>
            </a:pPr>
            <a:r>
              <a:rPr sz="1275" b="1">
                <a:solidFill>
                  <a:srgbClr val="60708D"/>
                </a:solidFill>
              </a:rPr>
              <a:t>Финал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EFAE346-F993-4F4E-9F5A-B0564D005662}"/>
              </a:ext>
            </a:extLst>
          </p:cNvPr>
          <p:cNvSpPr>
            <a:spLocks noGrp="1"/>
          </p:cNvSpPr>
          <p:nvPr/>
        </p:nvSpPr>
        <p:spPr>
          <a:xfrm>
            <a:off x="7753350" y="4629150"/>
            <a:ext cx="1866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18233A"/>
                </a:solidFill>
              </a:defRPr>
            </a:pPr>
            <a:r>
              <a:rPr sz="1575" b="1">
                <a:solidFill>
                  <a:srgbClr val="18233A"/>
                </a:solidFill>
              </a:rPr>
              <a:t>Пилот с преподавателями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EF4DF91-9A20-4A7D-9B83-3BEFFE8E13C1}"/>
              </a:ext>
            </a:extLst>
          </p:cNvPr>
          <p:cNvSpPr>
            <a:spLocks noGrp="1"/>
          </p:cNvSpPr>
          <p:nvPr/>
        </p:nvSpPr>
        <p:spPr>
          <a:xfrm>
            <a:off x="1524000" y="5753100"/>
            <a:ext cx="914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18233A"/>
                </a:solidFill>
              </a:defRPr>
            </a:pPr>
            <a:r>
              <a:rPr sz="1875" b="1">
                <a:solidFill>
                  <a:srgbClr val="18233A"/>
                </a:solidFill>
              </a:rPr>
              <a:t>PracticeFlow создаёт прозрачный маршрут практики — от структуры отчёта до проверяемого результата.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59E51E1-2AE6-421D-92DD-BCA5923BA06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60708D"/>
                </a:solidFill>
              </a:defRPr>
            </a:pPr>
            <a:r>
              <a:rPr sz="975" dirty="0" err="1">
                <a:solidFill>
                  <a:srgbClr val="60708D"/>
                </a:solidFill>
              </a:rPr>
              <a:t>PracticeFlow</a:t>
            </a:r>
            <a:r>
              <a:rPr sz="975" dirty="0">
                <a:solidFill>
                  <a:srgbClr val="60708D"/>
                </a:solidFill>
              </a:rPr>
              <a:t>  •</a:t>
            </a:r>
          </a:p>
        </p:txBody>
      </p:sp>
    </p:spTree>
    <p:extLst>
      <p:ext uri="{BB962C8B-B14F-4D97-AF65-F5344CB8AC3E}">
        <p14:creationId xmlns:p14="http://schemas.microsoft.com/office/powerpoint/2010/main" val="20133427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Microsoft Office PowerPoint</Application>
  <DocSecurity>0</DocSecurity>
  <PresentationFormat>Широкоэкранный</PresentationFormat>
  <Paragraphs>94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bekww egeubay</cp:lastModifiedBy>
  <cp:revision>2</cp:revision>
  <dcterms:created xsi:type="dcterms:W3CDTF">2026-08-20T17:26:55Z</dcterms:created>
  <dcterms:modified xsi:type="dcterms:W3CDTF">2026-08-20T17:41:51Z</dcterms:modified>
</cp:coreProperties>
</file>