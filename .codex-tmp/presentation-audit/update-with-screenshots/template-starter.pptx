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bc4c6984ad4a3d" /><Relationship Type="http://schemas.openxmlformats.org/officeDocument/2006/relationships/extended-properties" Target="/docProps/app.xml" Id="R20723576df5c4523" /><Relationship Type="http://schemas.openxmlformats.org/officeDocument/2006/relationships/officeDocument" Target="/ppt/presentation.xml" Id="Rf9cdc6da2b734d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36d44ee48f40f0"/>
  </p:sldMasterIdLst>
  <p:notesMasterIdLst>
    <p:notesMasterId xmlns:r="http://schemas.openxmlformats.org/officeDocument/2006/relationships" r:id="Rf20edaef2b184472"/>
  </p:notesMasterIdLst>
  <p:sldIdLst>
    <p:sldId xmlns:r="http://schemas.openxmlformats.org/officeDocument/2006/relationships" id="256" r:id="R98fce41991094c28"/>
    <p:sldId xmlns:r="http://schemas.openxmlformats.org/officeDocument/2006/relationships" id="257" r:id="R3cab83f8d7494159"/>
    <p:sldId xmlns:r="http://schemas.openxmlformats.org/officeDocument/2006/relationships" id="258" r:id="R4793bbe16624463d"/>
    <p:sldId xmlns:r="http://schemas.openxmlformats.org/officeDocument/2006/relationships" id="259" r:id="R82f8fea0375a4549"/>
    <p:sldId xmlns:r="http://schemas.openxmlformats.org/officeDocument/2006/relationships" id="260" r:id="Ra2ff01deba044bc6"/>
    <p:sldId xmlns:r="http://schemas.openxmlformats.org/officeDocument/2006/relationships" id="261" r:id="R09589f01f75d433f"/>
    <p:sldId xmlns:r="http://schemas.openxmlformats.org/officeDocument/2006/relationships" id="262" r:id="R38f89cde91544f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1eafa6047c4075" /><Relationship Type="http://schemas.openxmlformats.org/officeDocument/2006/relationships/slideMaster" Target="/ppt/slideMasters/slideMaster1.xml" Id="Rbb36d44ee48f40f0" /><Relationship Type="http://schemas.openxmlformats.org/officeDocument/2006/relationships/notesMaster" Target="/ppt/notesMasters/notesMaster1.xml" Id="Rf20edaef2b184472" /><Relationship Type="http://schemas.openxmlformats.org/officeDocument/2006/relationships/presProps" Target="/ppt/presProps.xml" Id="R4eb0fa19a4424a11" /><Relationship Type="http://schemas.openxmlformats.org/officeDocument/2006/relationships/tableStyles" Target="/ppt/tableStyles.xml" Id="Ra9d6ad31fb2b4290" /><Relationship Type="http://schemas.openxmlformats.org/officeDocument/2006/relationships/slide" Target="/ppt/slides/slide1.xml" Id="R98fce41991094c28" /><Relationship Type="http://schemas.openxmlformats.org/officeDocument/2006/relationships/slide" Target="/ppt/slides/slide2.xml" Id="R3cab83f8d7494159" /><Relationship Type="http://schemas.openxmlformats.org/officeDocument/2006/relationships/slide" Target="/ppt/slides/slide3.xml" Id="R4793bbe16624463d" /><Relationship Type="http://schemas.openxmlformats.org/officeDocument/2006/relationships/slide" Target="/ppt/slides/slide4.xml" Id="R82f8fea0375a4549" /><Relationship Type="http://schemas.openxmlformats.org/officeDocument/2006/relationships/slide" Target="/ppt/slides/slide5.xml" Id="Ra2ff01deba044bc6" /><Relationship Type="http://schemas.openxmlformats.org/officeDocument/2006/relationships/slide" Target="/ppt/slides/slide6.xml" Id="R09589f01f75d433f" /><Relationship Type="http://schemas.openxmlformats.org/officeDocument/2006/relationships/slide" Target="/ppt/slides/slide7.xml" Id="R38f89cde91544f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5ad363b46549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289beb85dc47e0" /><Relationship Type="http://schemas.openxmlformats.org/officeDocument/2006/relationships/notesMaster" Target="/ppt/notesMasters/notesMaster1.xml" Id="R61394cf58d9040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faba92cf564f6a" /><Relationship Type="http://schemas.openxmlformats.org/officeDocument/2006/relationships/notesMaster" Target="/ppt/notesMasters/notesMaster1.xml" Id="R618b3fb4681b44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c5e7aafe294e1b" /><Relationship Type="http://schemas.openxmlformats.org/officeDocument/2006/relationships/notesMaster" Target="/ppt/notesMasters/notesMaster1.xml" Id="R22e9b4d888354e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3b098e6cc94ea4" /><Relationship Type="http://schemas.openxmlformats.org/officeDocument/2006/relationships/notesMaster" Target="/ppt/notesMasters/notesMaster1.xml" Id="Re6dd9b5942154f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2135bc78ec4af4" /><Relationship Type="http://schemas.openxmlformats.org/officeDocument/2006/relationships/notesMaster" Target="/ppt/notesMasters/notesMaster1.xml" Id="R46e3e3257ff946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de8d0743524b0f" /><Relationship Type="http://schemas.openxmlformats.org/officeDocument/2006/relationships/notesMaster" Target="/ppt/notesMasters/notesMaster1.xml" Id="R85686f73c06046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4074da875443ed" /><Relationship Type="http://schemas.openxmlformats.org/officeDocument/2006/relationships/notesMaster" Target="/ppt/notesMasters/notesMaster1.xml" Id="R624138c9053b46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Здравствуйте. PracticeFlow — это платформа, которая переводит работу с отчётами по практике из разрозненных файлов в единый процесс. Сегодня покажу проблему, целевой поток и честный статус MVP по фактическому коду.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Аудит локального репозитория PracticeFlow, 20.08.2026.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Сейчас процесс обычно строится вокруг Word-файлов и почты. Отчёт пересылается несколько раз, преподаватель вручную ищет изменения, а студенту не всегда ясно, к какому месту относится замечание. Отдельная работа — финальное оформление документа.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Логически обоснованная проблематика из постановки задачи; статистика не заявляется.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Опрос преподавателей запланирован, но его результатов в проекте нет. Поэтому мы не подменяем исследование предположениями. После Google Forms сюда добавим размер выборки, главную проблему, интерес к онлайн-проверке и приоритетную функцию.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Поиск по репозиторию: отсутствуют Google Forms, survey/опрос и результаты исследования.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Решение строится как единый маршрут: преподаватель создаёт шаблон и назначает практику группе, студент заполняет свой экземпляр, затем начинается проверка, правки и финальное утверждение с экспортом. Этот поток — целевая модель; ниже я отделяю уже реализованные участки от недостающих экранов.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Постановка задачи пользователя; реализация сверена с API и фронтендом.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 коду реализованы авторизация, роли и tenant isolation, группы и версии шаблонов, документный редактор, отправка и повторная отправка. На backend есть review, комментарии и DOCX/PDF export. Но фронтенд пока не выводит публикацию, проверку, историю и скачивание; Director и Super Admin — заглушки. Поэтому MVP нельзя объявлять готовым end-to-end.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backend/app/api/v1, backend/app/services, frontend/src/App.tsx и frontend/src/features; практический запуск не подтверждён из-за окружения.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демонстрации нужны только реальные экраны из запущенного проекта: группы преподавателя, редактор шаблона, список отчётов студента и редактор отчёта. В репозитории нет готовых UI-скриншотов. Не стоит показывать review или export как существующие экраны: на backend API они есть, но frontend-интерфейс отсутствует.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frontend/src/App.tsx и frontend/src/features; в репозитории нет screenshot-файлов UI.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Итог такой: у проекта уже есть серьёзный фундамент, но следующий приоритет — соединить реализованный backend с полноценным пользовательским опытом и проверить весь маршрут в нормальном развёртывании. Ценность PracticeFlow — сделать путь от шаблона до результата прозрачным и управляемым для преподавателя и студента.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Вывод основан на аудите реализации и практических проверках окружения, 20.08.2026.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8db13c758649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d8f9b6947f494a" /><Relationship Type="http://schemas.openxmlformats.org/officeDocument/2006/relationships/slideLayout" Target="/ppt/slideLayouts/slideLayout1.xml" Id="R6b92058f606448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92058f606448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749ab7434445e" /><Relationship Type="http://schemas.openxmlformats.org/officeDocument/2006/relationships/notesSlide" Target="/ppt/notesSlides/notesSlide1.xml" Id="R841fb5204e244e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11421260e4ab5" /><Relationship Type="http://schemas.openxmlformats.org/officeDocument/2006/relationships/notesSlide" Target="/ppt/notesSlides/notesSlide2.xml" Id="R28ea04f52e1f48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7f53fe022840c3" /><Relationship Type="http://schemas.openxmlformats.org/officeDocument/2006/relationships/notesSlide" Target="/ppt/notesSlides/notesSlide3.xml" Id="R2552ffdfc0d142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abbe3b62604f1f" /><Relationship Type="http://schemas.openxmlformats.org/officeDocument/2006/relationships/notesSlide" Target="/ppt/notesSlides/notesSlide4.xml" Id="Rf0099434607e4e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97f61f8764fe6" /><Relationship Type="http://schemas.openxmlformats.org/officeDocument/2006/relationships/notesSlide" Target="/ppt/notesSlides/notesSlide5.xml" Id="R7ad24d53123546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3f0d8f8114689" /><Relationship Type="http://schemas.openxmlformats.org/officeDocument/2006/relationships/notesSlide" Target="/ppt/notesSlides/notesSlide6.xml" Id="Rdb064ded107448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6831dd326d4092" /><Relationship Type="http://schemas.openxmlformats.org/officeDocument/2006/relationships/notesSlide" Target="/ppt/notesSlides/notesSlide7.xml" Id="R1b2dd84fb38d44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A7DF99-9C06-43C3-B0A0-6E27D295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200150"/>
            <a:ext cx="310515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172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1B6629-1120-417D-98E7-1CA72086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485900"/>
            <a:ext cx="310515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232F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09846-E7AB-40A1-BD8F-D5AE16F2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71650"/>
            <a:ext cx="310515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6D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353027-9EAC-483C-A743-7D05A77D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90800"/>
            <a:ext cx="1428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PF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35BC5-DF63-4631-AA18-D053CCCA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 spc="2">
                <a:solidFill>
                  <a:srgbClr val="73D5FF"/>
                </a:solidFill>
              </a:defRPr>
            </a:pPr>
            <a:r>
              <a:rPr sz="1050" b="1" spc="2">
                <a:solidFill>
                  <a:srgbClr val="73D5FF"/>
                </a:solidFill>
              </a:rPr>
              <a:t>PRACTICEFLOW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4C4A9-4D17-48A4-8863-ABD2F6AD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64293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Цифровая платформа</a:t>
            </a:r>
          </a:p>
          <a:p xmlns:a="http://schemas.openxmlformats.org/drawingml/2006/main">
            <a:pPr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для управления</a:t>
            </a:r>
          </a:p>
          <a:p xmlns:a="http://schemas.openxmlformats.org/drawingml/2006/main">
            <a:pPr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студенческой практикой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A5888-9482-4BFB-B255-3990A285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C6D0E9"/>
                </a:solidFill>
              </a:defRPr>
            </a:pPr>
            <a:r>
              <a:rPr sz="1650">
                <a:solidFill>
                  <a:srgbClr val="C6D0E9"/>
                </a:solidFill>
              </a:rPr>
              <a:t>3-я защита • честный статус MVP на основе аудита репозитория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A716BA-344B-4E63-9F6C-3EE3056E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2343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761352-A8B3-4D3E-8935-DA1B6A7B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AEB9D6"/>
                </a:solidFill>
              </a:defRPr>
            </a:pPr>
            <a:r>
              <a:rPr sz="1275">
                <a:solidFill>
                  <a:srgbClr val="AEB9D6"/>
                </a:solidFill>
              </a:rPr>
              <a:t>август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5D42AD-6952-4413-8A5C-0B007561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AEB9D6"/>
                </a:solidFill>
              </a:defRPr>
            </a:pPr>
            <a:r>
              <a:rPr sz="975">
                <a:solidFill>
                  <a:srgbClr val="AEB9D6"/>
                </a:solidFill>
              </a:rPr>
              <a:t>PracticeFlow  •  3-я защита</a:t>
            </a:r>
          </a:p>
        </p:txBody>
      </p:sp>
    </p:spTree>
    <p:extLst>
      <p:ext uri="{BB962C8B-B14F-4D97-AF65-F5344CB8AC3E}">
        <p14:creationId xmlns:p14="http://schemas.microsoft.com/office/powerpoint/2010/main" val="10403045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FE8A2D-C640-4652-8568-AB794F7E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 spc="2">
                <a:solidFill>
                  <a:srgbClr val="60708D"/>
                </a:solidFill>
              </a:defRPr>
            </a:pPr>
            <a:r>
              <a:rPr sz="975" b="1" spc="2">
                <a:solidFill>
                  <a:srgbClr val="60708D"/>
                </a:solidFill>
              </a:rPr>
              <a:t>ПРОБЛЕМА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49C4B-8C0E-4E28-9E66-04DDA918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8233A"/>
                </a:solidFill>
              </a:defRPr>
            </a:pPr>
            <a:r>
              <a:rPr sz="3150" b="1">
                <a:solidFill>
                  <a:srgbClr val="18233A"/>
                </a:solidFill>
              </a:rPr>
              <a:t>Проверка отчётов всё ещё живёт в файлах и пересылках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8813B1-6FE2-4DD0-9C3B-9859B403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4EE6C-8CA1-459B-8B88-C060E755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60708D"/>
                </a:solidFill>
              </a:defRPr>
            </a:pPr>
            <a:r>
              <a:rPr sz="1200" b="1">
                <a:solidFill>
                  <a:srgbClr val="60708D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19EF29-A647-49C7-A728-EFAF6E07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14725"/>
            <a:ext cx="7581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1C1AA-0D94-49EE-8899-8AFFED3D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14675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4A9591-C665-48DC-9934-B07220DC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24325"/>
            <a:ext cx="1485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8233A"/>
                </a:solidFill>
              </a:defRPr>
            </a:pPr>
            <a:r>
              <a:rPr sz="1425" b="1">
                <a:solidFill>
                  <a:srgbClr val="18233A"/>
                </a:solidFill>
              </a:rPr>
              <a:t>Word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8233A"/>
                </a:solidFill>
              </a:defRPr>
            </a:pPr>
            <a:r>
              <a:rPr sz="1425" b="1">
                <a:solidFill>
                  <a:srgbClr val="18233A"/>
                </a:solidFill>
              </a:rPr>
              <a:t>файлы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C3902-BCA7-4C1A-BE5D-9C2D95C6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14675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F99B16-CEF9-42CF-8FD6-A733DABA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24325"/>
            <a:ext cx="1485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8233A"/>
                </a:solidFill>
              </a:defRPr>
            </a:pPr>
            <a:r>
              <a:rPr sz="1425" b="1">
                <a:solidFill>
                  <a:srgbClr val="18233A"/>
                </a:solidFill>
              </a:rPr>
              <a:t>Письма и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8233A"/>
                </a:solidFill>
              </a:defRPr>
            </a:pPr>
            <a:r>
              <a:rPr sz="1425" b="1">
                <a:solidFill>
                  <a:srgbClr val="18233A"/>
                </a:solidFill>
              </a:rPr>
              <a:t>версии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007A3E-A6DB-4FCD-BCB6-31257EC0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14675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ED0B88-744B-45F6-9363-B2FCE6F2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124325"/>
            <a:ext cx="1485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8233A"/>
                </a:solidFill>
              </a:defRPr>
            </a:pPr>
            <a:r>
              <a:rPr sz="1425" b="1">
                <a:solidFill>
                  <a:srgbClr val="18233A"/>
                </a:solidFill>
              </a:rPr>
              <a:t>Ручная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8233A"/>
                </a:solidFill>
              </a:defRPr>
            </a:pPr>
            <a:r>
              <a:rPr sz="1425" b="1">
                <a:solidFill>
                  <a:srgbClr val="18233A"/>
                </a:solidFill>
              </a:rPr>
              <a:t>проверка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B49116-3FDA-4A67-BE73-759B10E3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14675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D4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47EBD5-25CB-45F9-9A92-1840E939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24325"/>
            <a:ext cx="1485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8233A"/>
                </a:solidFill>
              </a:defRPr>
            </a:pPr>
            <a:r>
              <a:rPr sz="1425" b="1">
                <a:solidFill>
                  <a:srgbClr val="18233A"/>
                </a:solidFill>
              </a:rPr>
              <a:t>Оформление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8233A"/>
                </a:solidFill>
              </a:defRPr>
            </a:pPr>
            <a:r>
              <a:rPr sz="1425" b="1">
                <a:solidFill>
                  <a:srgbClr val="18233A"/>
                </a:solidFill>
              </a:rPr>
              <a:t>вручную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BE54C2-70A1-4113-99B2-24B668BC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24450"/>
            <a:ext cx="897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>
                <a:solidFill>
                  <a:srgbClr val="18233A"/>
                </a:solidFill>
              </a:defRPr>
            </a:pPr>
            <a:r>
              <a:rPr sz="1950">
                <a:solidFill>
                  <a:srgbClr val="18233A"/>
                </a:solidFill>
              </a:rPr>
              <a:t>Много версий отчёта • сложно увидеть, что именно исправить • итоговый документ приходится собирать вручную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7981B3-0D81-4320-B44B-77D424E8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0708D"/>
                </a:solidFill>
              </a:defRPr>
            </a:pPr>
            <a:r>
              <a:rPr sz="975">
                <a:solidFill>
                  <a:srgbClr val="60708D"/>
                </a:solidFill>
              </a:rPr>
              <a:t>PracticeFlow  •  3-я защита</a:t>
            </a:r>
          </a:p>
        </p:txBody>
      </p:sp>
    </p:spTree>
    <p:extLst>
      <p:ext uri="{BB962C8B-B14F-4D97-AF65-F5344CB8AC3E}">
        <p14:creationId xmlns:p14="http://schemas.microsoft.com/office/powerpoint/2010/main" val="2930581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A3C298-4462-45F3-BE4F-3497A0E0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 spc="2">
                <a:solidFill>
                  <a:srgbClr val="60708D"/>
                </a:solidFill>
              </a:defRPr>
            </a:pPr>
            <a:r>
              <a:rPr sz="975" b="1" spc="2">
                <a:solidFill>
                  <a:srgbClr val="60708D"/>
                </a:solidFill>
              </a:rPr>
              <a:t>ИССЛЕДОВАНИЕ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CD97D4-9FB7-4EA8-A48A-BEDCA64D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8233A"/>
                </a:solidFill>
              </a:defRPr>
            </a:pPr>
            <a:r>
              <a:rPr sz="3150" b="1">
                <a:solidFill>
                  <a:srgbClr val="18233A"/>
                </a:solidFill>
              </a:rPr>
              <a:t>Данные преподавателей добавим после Google Forms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EE5EED-7328-42BB-B620-1083FD5C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952B35-C533-4D6D-938A-9F3A40BA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60708D"/>
                </a:solidFill>
              </a:defRPr>
            </a:pPr>
            <a:r>
              <a:rPr sz="1200" b="1">
                <a:solidFill>
                  <a:srgbClr val="60708D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3D014F-F88E-4887-AC85-3EE5B7EA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66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60708D"/>
                </a:solidFill>
              </a:defRPr>
            </a:pPr>
            <a:r>
              <a:rPr sz="1725">
                <a:solidFill>
                  <a:srgbClr val="60708D"/>
                </a:solidFill>
              </a:rPr>
              <a:t>В репозитории нет результатов опроса — статистика намеренно не показана.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A19EC2-A928-4CCF-BCE4-DAEE4404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5048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5F7FC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102B18-784C-419D-BD19-1A7BE5D8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60708D"/>
                </a:solidFill>
              </a:defRPr>
            </a:pPr>
            <a:r>
              <a:rPr sz="1350" b="1">
                <a:solidFill>
                  <a:srgbClr val="60708D"/>
                </a:solidFill>
              </a:rPr>
              <a:t>Участников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682A7-3F68-40BC-8BFA-30041465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8233A"/>
                </a:solidFill>
              </a:defRPr>
            </a:pPr>
            <a:r>
              <a:rPr sz="1800" b="1">
                <a:solidFill>
                  <a:srgbClr val="18233A"/>
                </a:solidFill>
              </a:rPr>
              <a:t>[будет заполнено]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F539F0-5E7A-49ED-81EA-C2AF346E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90800"/>
            <a:ext cx="5048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8F9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18444D-7B51-4449-9BB5-55A6A793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19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60708D"/>
                </a:solidFill>
              </a:defRPr>
            </a:pPr>
            <a:r>
              <a:rPr sz="1350" b="1">
                <a:solidFill>
                  <a:srgbClr val="60708D"/>
                </a:solidFill>
              </a:rPr>
              <a:t>Основная проблема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AEC232-DC02-4FAA-8D4E-A1BC7588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9087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8233A"/>
                </a:solidFill>
              </a:defRPr>
            </a:pPr>
            <a:r>
              <a:rPr sz="1800" b="1">
                <a:solidFill>
                  <a:srgbClr val="18233A"/>
                </a:solidFill>
              </a:rPr>
              <a:t>[будет заполнено]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7DCADD-5D7C-4828-8392-E0A1C7E0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5048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5F7FC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D9886A-3F5D-441A-9394-88763B21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91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60708D"/>
                </a:solidFill>
              </a:defRPr>
            </a:pPr>
            <a:r>
              <a:rPr sz="1350" b="1">
                <a:solidFill>
                  <a:srgbClr val="60708D"/>
                </a:solidFill>
              </a:rPr>
              <a:t>Интерес к онлайн-проверке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ECB2B4-D3AA-43F3-9999-BB2DCEA2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625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8233A"/>
                </a:solidFill>
              </a:defRPr>
            </a:pPr>
            <a:r>
              <a:rPr sz="1800" b="1">
                <a:solidFill>
                  <a:srgbClr val="18233A"/>
                </a:solidFill>
              </a:rPr>
              <a:t>[будет заполнено]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C1EC39-D7A3-4797-BA50-A35104A3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62450"/>
            <a:ext cx="5048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5F7FC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F861A5-BC8C-4B7B-A128-13D2E053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91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60708D"/>
                </a:solidFill>
              </a:defRPr>
            </a:pPr>
            <a:r>
              <a:rPr sz="1350" b="1">
                <a:solidFill>
                  <a:srgbClr val="60708D"/>
                </a:solidFill>
              </a:rPr>
              <a:t>Востребованная функция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6BD0C2-64ED-467C-9DC6-6B640064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625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6D72FF"/>
                </a:solidFill>
              </a:defRPr>
            </a:pPr>
            <a:r>
              <a:rPr sz="1800" b="1">
                <a:solidFill>
                  <a:srgbClr val="6D72FF"/>
                </a:solidFill>
              </a:rPr>
              <a:t>[будет заполнено]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DC6FED-7D0B-42CE-9675-2BB20D45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0708D"/>
                </a:solidFill>
              </a:defRPr>
            </a:pPr>
            <a:r>
              <a:rPr sz="975">
                <a:solidFill>
                  <a:srgbClr val="60708D"/>
                </a:solidFill>
              </a:rPr>
              <a:t>PracticeFlow  •  3-я защита</a:t>
            </a:r>
          </a:p>
        </p:txBody>
      </p:sp>
    </p:spTree>
    <p:extLst>
      <p:ext uri="{BB962C8B-B14F-4D97-AF65-F5344CB8AC3E}">
        <p14:creationId xmlns:p14="http://schemas.microsoft.com/office/powerpoint/2010/main" val="2402488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0FC49F-1630-4BA2-BD89-DAE56FC9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 spc="2">
                <a:solidFill>
                  <a:srgbClr val="BFC8E5"/>
                </a:solidFill>
              </a:defRPr>
            </a:pPr>
            <a:r>
              <a:rPr sz="975" b="1" spc="2">
                <a:solidFill>
                  <a:srgbClr val="BFC8E5"/>
                </a:solidFill>
              </a:rPr>
              <a:t>РЕШЕНИЕ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00A54-E9DE-4651-819B-502B9C62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Один маршрут вместо цепочки файлов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69D97A-16EB-4955-AD63-81818403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EDACC1-0044-457D-9C21-3112815B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BFC8E5"/>
                </a:solidFill>
              </a:defRPr>
            </a:pPr>
            <a:r>
              <a:rPr sz="1200" b="1">
                <a:solidFill>
                  <a:srgbClr val="BFC8E5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A9F7B-F961-4E29-860C-E6A49202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C7D0EA"/>
                </a:solidFill>
              </a:defRPr>
            </a:pPr>
            <a:r>
              <a:rPr sz="1725">
                <a:solidFill>
                  <a:srgbClr val="C7D0EA"/>
                </a:solidFill>
              </a:rPr>
              <a:t>Целевой процесс PracticeFlow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BD0F17-F210-467A-AC50-DBBE84E9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14725"/>
            <a:ext cx="9791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60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E9F4D5-DF63-4624-A158-AF870E1E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9087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00759F-BEEF-433B-B708-77BD5EC7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82A"/>
                </a:solidFill>
              </a:defRPr>
            </a:pPr>
            <a:r>
              <a:rPr sz="1350" b="1">
                <a:solidFill>
                  <a:srgbClr val="10182A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B1C40F-04B2-485A-8E92-E71BA88F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57650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Шаблон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FD4F5A-A2A9-4055-8D40-E1E9E9A8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19087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3D1ACF-B30C-4FB6-AEE4-2A7875EA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35280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82A"/>
                </a:solidFill>
              </a:defRPr>
            </a:pPr>
            <a:r>
              <a:rPr sz="1350" b="1">
                <a:solidFill>
                  <a:srgbClr val="10182A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F5F0F0-8B28-4A98-BDB3-8EAEAC4F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057650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Группа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19C4FF-8875-4EAD-9204-42F3DB83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9087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D4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DE648A-4501-456C-936B-A5F0EACF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5280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82A"/>
                </a:solidFill>
              </a:defRPr>
            </a:pPr>
            <a:r>
              <a:rPr sz="1350" b="1">
                <a:solidFill>
                  <a:srgbClr val="10182A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5644A6-6650-4CF6-849E-BD7EF741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057650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Студент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7D87A7-5CC7-4BE2-B32E-7498B440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19087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D4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87E8E7-2095-48F4-B84A-775A3C77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35280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82A"/>
                </a:solidFill>
              </a:defRPr>
            </a:pPr>
            <a:r>
              <a:rPr sz="1350" b="1">
                <a:solidFill>
                  <a:srgbClr val="10182A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E5E399-085D-4C15-A7F4-DF2A775D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057650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Заполнение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DB25F5-6DAC-4CA1-B041-C002A8A1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9087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FE356B-2742-4457-861F-77323D45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5280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82A"/>
                </a:solidFill>
              </a:defRPr>
            </a:pPr>
            <a:r>
              <a:rPr sz="1350" b="1">
                <a:solidFill>
                  <a:srgbClr val="10182A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23F77E-68A9-4D81-BB99-766CB407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57650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Проверка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AE6AE3-BE03-4414-938F-56B3FA5B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19087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6A06AE-6F9B-4B85-A8CA-A6550C34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35280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82A"/>
                </a:solidFill>
              </a:defRPr>
            </a:pPr>
            <a:r>
              <a:rPr sz="1350" b="1">
                <a:solidFill>
                  <a:srgbClr val="10182A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97CD0D-BEB4-4F06-87EC-902C46A7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057650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Правки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D4EDA4-728E-491F-9D40-A5660C60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9087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0A2351-1910-4FC3-8F45-72170575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5280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82A"/>
                </a:solidFill>
              </a:defRPr>
            </a:pPr>
            <a:r>
              <a:rPr sz="1350" b="1">
                <a:solidFill>
                  <a:srgbClr val="10182A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65BEDE-AA62-4E9C-A940-07B67376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57650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Утверждение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874329-623A-448E-ADCA-E9D6C739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19087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5B35D2-12B6-416E-940D-5D41F88C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35280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82A"/>
                </a:solidFill>
              </a:defRPr>
            </a:pPr>
            <a:r>
              <a:rPr sz="1350" b="1">
                <a:solidFill>
                  <a:srgbClr val="10182A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79B0A8-8AB7-44C3-89A6-6FFF4E47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057650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Word / PDF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B78C12-B549-46B2-A92B-5527F5EF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4827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C7D0EA"/>
                </a:solidFill>
              </a:defRPr>
            </a:pPr>
            <a:r>
              <a:rPr sz="1725">
                <a:solidFill>
                  <a:srgbClr val="C7D0EA"/>
                </a:solidFill>
              </a:rPr>
              <a:t>Роли разделены: преподаватель задаёт структуру и проверяет; студент работает только со своим черновиком.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1A8B21-9B9E-4D9A-8952-9AEF120F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AEB9D6"/>
                </a:solidFill>
              </a:defRPr>
            </a:pPr>
            <a:r>
              <a:rPr sz="975">
                <a:solidFill>
                  <a:srgbClr val="AEB9D6"/>
                </a:solidFill>
              </a:rPr>
              <a:t>PracticeFlow  •  3-я защита</a:t>
            </a:r>
          </a:p>
        </p:txBody>
      </p:sp>
    </p:spTree>
    <p:extLst>
      <p:ext uri="{BB962C8B-B14F-4D97-AF65-F5344CB8AC3E}">
        <p14:creationId xmlns:p14="http://schemas.microsoft.com/office/powerpoint/2010/main" val="5158632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A4239D-A4C7-44DB-B5F1-CDB14FCE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 spc="2">
                <a:solidFill>
                  <a:srgbClr val="60708D"/>
                </a:solidFill>
              </a:defRPr>
            </a:pPr>
            <a:r>
              <a:rPr sz="975" b="1" spc="2">
                <a:solidFill>
                  <a:srgbClr val="60708D"/>
                </a:solidFill>
              </a:rPr>
              <a:t>ФАКТИЧЕСКИЙ СТАТУС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589194-3751-4B2B-A5C6-B4A8E945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8233A"/>
                </a:solidFill>
              </a:defRPr>
            </a:pPr>
            <a:r>
              <a:rPr sz="3150" b="1">
                <a:solidFill>
                  <a:srgbClr val="18233A"/>
                </a:solidFill>
              </a:rPr>
              <a:t>MVP: сильный API-фундамент, но пользовательский поток ещё не замкнут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EEE83E-B7FA-40B1-AF83-A51B7EDC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2CD3C-E1AE-41F4-A77B-18BEE98E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60708D"/>
                </a:solidFill>
              </a:defRPr>
            </a:pPr>
            <a:r>
              <a:rPr sz="1200" b="1">
                <a:solidFill>
                  <a:srgbClr val="60708D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CBAB8-63BE-4C78-9119-EED4C27E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381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2354FA-B4F6-4D57-9797-5EDB0F99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288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8233A"/>
                </a:solidFill>
              </a:defRPr>
            </a:pPr>
            <a:r>
              <a:rPr sz="1950" b="1">
                <a:solidFill>
                  <a:srgbClr val="18233A"/>
                </a:solidFill>
              </a:rPr>
              <a:t>Реализовано в коде и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E09F84-99AB-4FB9-B48B-E5D252C8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752CFA-325F-4438-A3C0-41727996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669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8233A"/>
                </a:solidFill>
              </a:defRPr>
            </a:pPr>
            <a:r>
              <a:rPr sz="1350">
                <a:solidFill>
                  <a:srgbClr val="18233A"/>
                </a:solidFill>
              </a:rPr>
              <a:t>JWT, refresh/logout, 4 роли и tenant isolation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20C48C-B7C7-4AE4-ADF4-01FEB1F6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85FA5E-29C9-4A5C-A4FF-E313962C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813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8233A"/>
                </a:solidFill>
              </a:defRPr>
            </a:pPr>
            <a:r>
              <a:rPr sz="1350">
                <a:solidFill>
                  <a:srgbClr val="18233A"/>
                </a:solidFill>
              </a:rPr>
              <a:t>Группы, шаблоны, версии и назначение практики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A2D962-3ADF-43CD-A39C-28F17CFF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9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0113B8-BEDA-499D-A72B-600EB848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956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8233A"/>
                </a:solidFill>
              </a:defRPr>
            </a:pPr>
            <a:r>
              <a:rPr sz="1350">
                <a:solidFill>
                  <a:srgbClr val="18233A"/>
                </a:solidFill>
              </a:rPr>
              <a:t>Структурированный редактор: разделы, таблицы, изображения, стили, нумерация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979FDD-11EB-4745-9663-638680E3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A43B7A-6624-4BFB-932D-673B9D64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00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8233A"/>
                </a:solidFill>
              </a:defRPr>
            </a:pPr>
            <a:r>
              <a:rPr sz="1350">
                <a:solidFill>
                  <a:srgbClr val="18233A"/>
                </a:solidFill>
              </a:rPr>
              <a:t>Черновики, отправка, повторная отправка и история версий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75175F-C518-4E0D-B6EA-3304B0E3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72DE92-C5DA-4AF2-83B7-AF9C9D11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243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8233A"/>
                </a:solidFill>
              </a:defRPr>
            </a:pPr>
            <a:r>
              <a:rPr sz="1350">
                <a:solidFill>
                  <a:srgbClr val="18233A"/>
                </a:solidFill>
              </a:rPr>
              <a:t>API проверки: статусы, inline/general comments, ответы и resolve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133784-4A6D-4250-9055-52F4C14C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BAAAC2-704C-4343-A1B5-6A50DD9D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8233A"/>
                </a:solidFill>
              </a:defRPr>
            </a:pPr>
            <a:r>
              <a:rPr sz="1350">
                <a:solidFill>
                  <a:srgbClr val="18233A"/>
                </a:solidFill>
              </a:rPr>
              <a:t>API-экспорт DOCX/PDF с полями, отступами и форматированием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19AEFB-77D1-4405-8A19-C8C87316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28800"/>
            <a:ext cx="381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48AF01-147D-49C1-975D-7D07FBCE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288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8233A"/>
                </a:solidFill>
              </a:defRPr>
            </a:pPr>
            <a:r>
              <a:rPr sz="1950" b="1">
                <a:solidFill>
                  <a:srgbClr val="18233A"/>
                </a:solidFill>
              </a:rPr>
              <a:t>Нужно завершить перед пилотом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8CE0C0-B9BE-4512-B4CE-3F615247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DA4BAE-C8C3-457E-BF38-F3B378EC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669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8233A"/>
                </a:solidFill>
              </a:defRPr>
            </a:pPr>
            <a:r>
              <a:rPr sz="1350">
                <a:solidFill>
                  <a:srgbClr val="18233A"/>
                </a:solidFill>
              </a:rPr>
              <a:t>UI публикации практики — API есть, кнопки нет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6276AF-368A-4394-806B-CB3C8C85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62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78F4BB-2BC5-4A54-AAFC-45E603FF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4797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8233A"/>
                </a:solidFill>
              </a:defRPr>
            </a:pPr>
            <a:r>
              <a:rPr sz="1350">
                <a:solidFill>
                  <a:srgbClr val="18233A"/>
                </a:solidFill>
              </a:rPr>
              <a:t>UI review/comments/history и скачивание экспортов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2E7008-531A-4E3E-AEAD-F241E41B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7D893C-7CEA-462A-A1AA-85A1AB14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290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8233A"/>
                </a:solidFill>
              </a:defRPr>
            </a:pPr>
            <a:r>
              <a:rPr sz="1350">
                <a:solidFill>
                  <a:srgbClr val="18233A"/>
                </a:solidFill>
              </a:rPr>
              <a:t>Рабочие панели Director и Super Admin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9ECC7D-DEED-4862-9D07-A992DEA1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24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CA664B-8C1A-4EEF-AD5A-62AA4A57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100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8233A"/>
                </a:solidFill>
              </a:defRPr>
            </a:pPr>
            <a:r>
              <a:rPr sz="1350">
                <a:solidFill>
                  <a:srgbClr val="18233A"/>
                </a:solidFill>
              </a:rPr>
              <a:t>Управление организациями, профилями, группами — пока seed/API foundation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57B760-1F10-4AB4-A98C-AA24FC39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05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D37A66-3A46-413F-A488-ADB9269C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910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8233A"/>
                </a:solidFill>
              </a:defRPr>
            </a:pPr>
            <a:r>
              <a:rPr sz="1350">
                <a:solidFill>
                  <a:srgbClr val="18233A"/>
                </a:solidFill>
              </a:rPr>
              <a:t>End-to-end проверка Docker и PDF-зависимостей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B56122-B855-4093-B556-63EC5DE1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0708D"/>
                </a:solidFill>
              </a:defRPr>
            </a:pPr>
            <a:r>
              <a:rPr sz="975">
                <a:solidFill>
                  <a:srgbClr val="60708D"/>
                </a:solidFill>
              </a:rPr>
              <a:t>PracticeFlow  •  3-я защита</a:t>
            </a:r>
          </a:p>
        </p:txBody>
      </p:sp>
    </p:spTree>
    <p:extLst>
      <p:ext uri="{BB962C8B-B14F-4D97-AF65-F5344CB8AC3E}">
        <p14:creationId xmlns:p14="http://schemas.microsoft.com/office/powerpoint/2010/main" val="15786198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344A5C-DBD5-439B-ACCB-893CE409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 spc="2">
                <a:solidFill>
                  <a:srgbClr val="60708D"/>
                </a:solidFill>
              </a:defRPr>
            </a:pPr>
            <a:r>
              <a:rPr sz="975" b="1" spc="2">
                <a:solidFill>
                  <a:srgbClr val="60708D"/>
                </a:solidFill>
              </a:rPr>
              <a:t>ДЕМОНСТРАЦИЯ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F523D-878E-4463-B0C2-EFBA3A21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8233A"/>
                </a:solidFill>
              </a:defRPr>
            </a:pPr>
            <a:r>
              <a:rPr sz="3150" b="1">
                <a:solidFill>
                  <a:srgbClr val="18233A"/>
                </a:solidFill>
              </a:rPr>
              <a:t>На защите показываем только реальные экраны после запуска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5711BE-E213-472F-A560-8CAFD1E0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AF9B3F-F3B0-4368-8D69-633FE82C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60708D"/>
                </a:solidFill>
              </a:defRPr>
            </a:pPr>
            <a:r>
              <a:rPr sz="1200" b="1">
                <a:solidFill>
                  <a:srgbClr val="60708D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D7825-4F39-47DC-8ACE-AE77B93C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60708D"/>
                </a:solidFill>
              </a:defRPr>
            </a:pPr>
            <a:r>
              <a:rPr sz="1650">
                <a:solidFill>
                  <a:srgbClr val="60708D"/>
                </a:solidFill>
              </a:rPr>
              <a:t>Скриншотов интерфейса в репозитории нет. Ниже — честный список кадров для захвата после исправления окружения.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88452-0DBE-4ED9-BE3A-DED55D81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50482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0643B7-57C5-4811-BFDE-D4CEEFF5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90825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6D72FF"/>
                </a:solidFill>
              </a:defRPr>
            </a:pPr>
            <a:r>
              <a:rPr sz="1875" b="1">
                <a:solidFill>
                  <a:srgbClr val="6D72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36DF7-3AFD-4118-A6FC-8BC870DE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62250"/>
            <a:ext cx="358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8233A"/>
                </a:solidFill>
              </a:defRPr>
            </a:pPr>
            <a:r>
              <a:rPr sz="1650" b="1">
                <a:solidFill>
                  <a:srgbClr val="18233A"/>
                </a:solidFill>
              </a:rPr>
              <a:t>Teacher • Мои группы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D85FF7-BB6E-4B3D-99BB-DA4379F9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1467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0708D"/>
                </a:solidFill>
              </a:defRPr>
            </a:pPr>
            <a:r>
              <a:rPr sz="1200">
                <a:solidFill>
                  <a:srgbClr val="60708D"/>
                </a:solidFill>
              </a:rPr>
              <a:t>/groups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1F093F-0B4A-4D40-AD80-64E3FFE4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29000"/>
            <a:ext cx="381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8233A"/>
                </a:solidFill>
              </a:defRPr>
            </a:pPr>
            <a:r>
              <a:rPr sz="1275">
                <a:solidFill>
                  <a:srgbClr val="18233A"/>
                </a:solidFill>
              </a:rPr>
              <a:t>Список закреплённых групп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E95711-C129-4191-ADC5-629E48CA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52700"/>
            <a:ext cx="50482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53D8CF-399D-4682-8813-31E7A043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90825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6D72FF"/>
                </a:solidFill>
              </a:defRPr>
            </a:pPr>
            <a:r>
              <a:rPr sz="1875" b="1">
                <a:solidFill>
                  <a:srgbClr val="6D72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F3D50E-CD2E-48EA-ACFA-6E804B8E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62250"/>
            <a:ext cx="358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8233A"/>
                </a:solidFill>
              </a:defRPr>
            </a:pPr>
            <a:r>
              <a:rPr sz="1650" b="1">
                <a:solidFill>
                  <a:srgbClr val="18233A"/>
                </a:solidFill>
              </a:rPr>
              <a:t>Template editor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2B01B7-574C-4AB2-8A53-B0032103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1467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0708D"/>
                </a:solidFill>
              </a:defRPr>
            </a:pPr>
            <a:r>
              <a:rPr sz="1200">
                <a:solidFill>
                  <a:srgbClr val="60708D"/>
                </a:solidFill>
              </a:rPr>
              <a:t>/templates/:id/versions/:id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45ADAD-4BFD-455B-942C-3B5AFD1B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29000"/>
            <a:ext cx="381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8233A"/>
                </a:solidFill>
              </a:defRPr>
            </a:pPr>
            <a:r>
              <a:rPr sz="1275">
                <a:solidFill>
                  <a:srgbClr val="18233A"/>
                </a:solidFill>
              </a:rPr>
              <a:t>Структура, стили и A4 preview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C1171D-4F85-4F31-9227-7DB352C1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50482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5D3AC9-7D1D-4240-BA99-517A4584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43425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6D72FF"/>
                </a:solidFill>
              </a:defRPr>
            </a:pPr>
            <a:r>
              <a:rPr sz="1875" b="1">
                <a:solidFill>
                  <a:srgbClr val="6D72F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DC038A-5C86-4C1B-B711-FB993FE4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14850"/>
            <a:ext cx="358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8233A"/>
                </a:solidFill>
              </a:defRPr>
            </a:pPr>
            <a:r>
              <a:rPr sz="1650" b="1">
                <a:solidFill>
                  <a:srgbClr val="18233A"/>
                </a:solidFill>
              </a:rPr>
              <a:t>Student • Мои отчёты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067D58-CF43-4406-B1B5-7C90672D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6727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0708D"/>
                </a:solidFill>
              </a:defRPr>
            </a:pPr>
            <a:r>
              <a:rPr sz="1200">
                <a:solidFill>
                  <a:srgbClr val="60708D"/>
                </a:solidFill>
              </a:rPr>
              <a:t>/reports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B7E145-C200-4A5E-991D-E4E2B1C0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81600"/>
            <a:ext cx="381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8233A"/>
                </a:solidFill>
              </a:defRPr>
            </a:pPr>
            <a:r>
              <a:rPr sz="1275">
                <a:solidFill>
                  <a:srgbClr val="18233A"/>
                </a:solidFill>
              </a:rPr>
              <a:t>Назначенный отчёт и статус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BF2422-8A4F-4C98-A647-E90F08B9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305300"/>
            <a:ext cx="50482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3FDEB1-D56F-4977-A019-602BD55C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43425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6D72FF"/>
                </a:solidFill>
              </a:defRPr>
            </a:pPr>
            <a:r>
              <a:rPr sz="1875" b="1">
                <a:solidFill>
                  <a:srgbClr val="6D72FF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5634B6-6E3D-4AC3-8B83-C67F3E61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514850"/>
            <a:ext cx="358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8233A"/>
                </a:solidFill>
              </a:defRPr>
            </a:pPr>
            <a:r>
              <a:rPr sz="1650" b="1">
                <a:solidFill>
                  <a:srgbClr val="18233A"/>
                </a:solidFill>
              </a:rPr>
              <a:t>Student report editor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37B751-A036-4FDB-AB3A-22173ADF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6727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0708D"/>
                </a:solidFill>
              </a:defRPr>
            </a:pPr>
            <a:r>
              <a:rPr sz="1200">
                <a:solidFill>
                  <a:srgbClr val="60708D"/>
                </a:solidFill>
              </a:rPr>
              <a:t>/reports/:id/edit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312DC1-AFB3-4DFF-B94B-32DBE4F9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181600"/>
            <a:ext cx="381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8233A"/>
                </a:solidFill>
              </a:defRPr>
            </a:pPr>
            <a:r>
              <a:rPr sz="1275">
                <a:solidFill>
                  <a:srgbClr val="18233A"/>
                </a:solidFill>
              </a:rPr>
              <a:t>Редактирование только разрешённых разделов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05A2A5-1237-4BEF-845E-BAE87C3F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B05050"/>
                </a:solidFill>
              </a:defRPr>
            </a:pPr>
            <a:r>
              <a:rPr sz="1500" b="1">
                <a:solidFill>
                  <a:srgbClr val="B05050"/>
                </a:solidFill>
              </a:rPr>
              <a:t>Не добавлять фейковые кадры review/export: этих экранов во frontend пока нет.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385170-7127-41ED-A94D-67764E7C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0708D"/>
                </a:solidFill>
              </a:defRPr>
            </a:pPr>
            <a:r>
              <a:rPr sz="975">
                <a:solidFill>
                  <a:srgbClr val="60708D"/>
                </a:solidFill>
              </a:rPr>
              <a:t>PracticeFlow  •  3-я защита</a:t>
            </a:r>
          </a:p>
        </p:txBody>
      </p:sp>
    </p:spTree>
    <p:extLst>
      <p:ext uri="{BB962C8B-B14F-4D97-AF65-F5344CB8AC3E}">
        <p14:creationId xmlns:p14="http://schemas.microsoft.com/office/powerpoint/2010/main" val="5929655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D9EEC1-0BC0-443E-BA52-1D48BB7F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 spc="2">
                <a:solidFill>
                  <a:srgbClr val="60708D"/>
                </a:solidFill>
              </a:defRPr>
            </a:pPr>
            <a:r>
              <a:rPr sz="975" b="1" spc="2">
                <a:solidFill>
                  <a:srgbClr val="60708D"/>
                </a:solidFill>
              </a:rPr>
              <a:t>ИТОГ И ПЛАН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D0164-AB0B-4A10-9842-30B9C16E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8233A"/>
                </a:solidFill>
              </a:defRPr>
            </a:pPr>
            <a:r>
              <a:rPr sz="3150" b="1">
                <a:solidFill>
                  <a:srgbClr val="18233A"/>
                </a:solidFill>
              </a:rPr>
              <a:t>Следующий этап — замкнуть путь пользователя и подтвердить его на практике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6AD72-D535-474B-8BD2-42DE88D6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318909-7274-4632-80F8-496B3591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60708D"/>
                </a:solidFill>
              </a:defRPr>
            </a:pPr>
            <a:r>
              <a:rPr sz="1200" b="1">
                <a:solidFill>
                  <a:srgbClr val="60708D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DA0E5-10C9-46EA-96BF-7E49F3D6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00450"/>
            <a:ext cx="8591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2ADA06-AF0F-4345-AD44-0CA87C6A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A10466-9052-4AEB-B6FC-AB2E8B68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671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82A"/>
                </a:solidFill>
              </a:defRPr>
            </a:pPr>
            <a:r>
              <a:rPr sz="1350" b="1">
                <a:solidFill>
                  <a:srgbClr val="10182A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070DBD-0D61-4167-9B52-674BA309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60708D"/>
                </a:solidFill>
              </a:defRPr>
            </a:pPr>
            <a:r>
              <a:rPr sz="1275" b="1">
                <a:solidFill>
                  <a:srgbClr val="60708D"/>
                </a:solidFill>
              </a:rPr>
              <a:t>Сейчас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47CAA1-68D6-4FAA-81AD-750605B1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29150"/>
            <a:ext cx="1866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8233A"/>
                </a:solidFill>
              </a:defRPr>
            </a:pPr>
            <a:r>
              <a:rPr sz="1575" b="1">
                <a:solidFill>
                  <a:srgbClr val="18233A"/>
                </a:solidFill>
              </a:rPr>
              <a:t>MVP-фундамент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77187E-7DF9-4AA3-858C-FB53B0B6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276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84567A-FB4B-4789-BF1D-7F159928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671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82A"/>
                </a:solidFill>
              </a:defRPr>
            </a:pPr>
            <a:r>
              <a:rPr sz="1350" b="1">
                <a:solidFill>
                  <a:srgbClr val="10182A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8EB660-921A-45E6-9653-2EFFFC00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862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60708D"/>
                </a:solidFill>
              </a:defRPr>
            </a:pPr>
            <a:r>
              <a:rPr sz="1275" b="1">
                <a:solidFill>
                  <a:srgbClr val="60708D"/>
                </a:solidFill>
              </a:rPr>
              <a:t>Дальше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340A2B-8596-430A-B2F4-72B56DB9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629150"/>
            <a:ext cx="1866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8233A"/>
                </a:solidFill>
              </a:defRPr>
            </a:pPr>
            <a:r>
              <a:rPr sz="1575" b="1">
                <a:solidFill>
                  <a:srgbClr val="18233A"/>
                </a:solidFill>
              </a:rPr>
              <a:t>Публикация + review UI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408F8B-6D77-4235-B68C-2FDD5C8B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76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2CB6AF-36D7-4146-8108-31D640AA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671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82A"/>
                </a:solidFill>
              </a:defRPr>
            </a:pPr>
            <a:r>
              <a:rPr sz="1350" b="1">
                <a:solidFill>
                  <a:srgbClr val="10182A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B71402-4F0D-47BF-979E-8DCAEECE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862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60708D"/>
                </a:solidFill>
              </a:defRPr>
            </a:pPr>
            <a:r>
              <a:rPr sz="1275" b="1">
                <a:solidFill>
                  <a:srgbClr val="60708D"/>
                </a:solidFill>
              </a:rPr>
              <a:t>Затем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545273-D17B-49DD-B7B6-A1099286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29150"/>
            <a:ext cx="1866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8233A"/>
                </a:solidFill>
              </a:defRPr>
            </a:pPr>
            <a:r>
              <a:rPr sz="1575" b="1">
                <a:solidFill>
                  <a:srgbClr val="18233A"/>
                </a:solidFill>
              </a:rPr>
              <a:t>Export UI + стабильный Docker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40EC3C-B824-4BB7-A28C-95007220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76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D4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43485D-CEFB-41E7-94CB-937642B5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671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82A"/>
                </a:solidFill>
              </a:defRPr>
            </a:pPr>
            <a:r>
              <a:rPr sz="1350" b="1">
                <a:solidFill>
                  <a:srgbClr val="10182A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77EC76-8BA4-4D01-BDAD-3EA533EC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862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60708D"/>
                </a:solidFill>
              </a:defRPr>
            </a:pPr>
            <a:r>
              <a:rPr sz="1275" b="1">
                <a:solidFill>
                  <a:srgbClr val="60708D"/>
                </a:solidFill>
              </a:rPr>
              <a:t>Финал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FAE346-F993-4F4E-9F5A-B0564D00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629150"/>
            <a:ext cx="1866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8233A"/>
                </a:solidFill>
              </a:defRPr>
            </a:pPr>
            <a:r>
              <a:rPr sz="1575" b="1">
                <a:solidFill>
                  <a:srgbClr val="18233A"/>
                </a:solidFill>
              </a:rPr>
              <a:t>Пилот с преподавателями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F4DF91-9A20-4A7D-9B83-3BEFFE8E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5310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8233A"/>
                </a:solidFill>
              </a:defRPr>
            </a:pPr>
            <a:r>
              <a:rPr sz="1875" b="1">
                <a:solidFill>
                  <a:srgbClr val="18233A"/>
                </a:solidFill>
              </a:rPr>
              <a:t>PracticeFlow создаёт прозрачный маршрут практики — от структуры отчёта до проверяемого результата.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9E51E1-2AE6-421D-92DD-BCA5923B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0708D"/>
                </a:solidFill>
              </a:defRPr>
            </a:pPr>
            <a:r>
              <a:rPr sz="975">
                <a:solidFill>
                  <a:srgbClr val="60708D"/>
                </a:solidFill>
              </a:rPr>
              <a:t>PracticeFlow  •  3-я защита</a:t>
            </a:r>
          </a:p>
        </p:txBody>
      </p:sp>
    </p:spTree>
    <p:extLst>
      <p:ext uri="{BB962C8B-B14F-4D97-AF65-F5344CB8AC3E}">
        <p14:creationId xmlns:p14="http://schemas.microsoft.com/office/powerpoint/2010/main" val="20133427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2026-08-20T17:18:14.0160000Z</dcterms:created>
  <dcterms:modified xsi:type="dcterms:W3CDTF">2026-08-20T17:18:14.0160000Z</dcterms:modified>
</coreProperties>
</file>